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5"/>
  </p:sldMasterIdLst>
  <p:handoutMasterIdLst>
    <p:handoutMasterId r:id="rId26"/>
  </p:handoutMasterIdLst>
  <p:sldIdLst>
    <p:sldId id="256" r:id="rId6"/>
    <p:sldId id="289" r:id="rId7"/>
    <p:sldId id="266" r:id="rId8"/>
    <p:sldId id="267" r:id="rId9"/>
    <p:sldId id="268" r:id="rId10"/>
    <p:sldId id="294" r:id="rId11"/>
    <p:sldId id="272" r:id="rId12"/>
    <p:sldId id="273" r:id="rId13"/>
    <p:sldId id="285" r:id="rId14"/>
    <p:sldId id="287" r:id="rId15"/>
    <p:sldId id="277" r:id="rId16"/>
    <p:sldId id="279" r:id="rId17"/>
    <p:sldId id="280" r:id="rId18"/>
    <p:sldId id="282" r:id="rId19"/>
    <p:sldId id="283" r:id="rId20"/>
    <p:sldId id="298" r:id="rId21"/>
    <p:sldId id="296" r:id="rId22"/>
    <p:sldId id="291" r:id="rId23"/>
    <p:sldId id="290" r:id="rId24"/>
    <p:sldId id="295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880"/>
    <a:srgbClr val="FFDF7D"/>
    <a:srgbClr val="66B3E4"/>
    <a:srgbClr val="ECECEC"/>
    <a:srgbClr val="7FA3BF"/>
    <a:srgbClr val="595959"/>
    <a:srgbClr val="F9F0E0"/>
    <a:srgbClr val="F2F7FA"/>
    <a:srgbClr val="E7E2CA"/>
    <a:srgbClr val="E1EB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002" autoAdjust="0"/>
    <p:restoredTop sz="94660"/>
  </p:normalViewPr>
  <p:slideViewPr>
    <p:cSldViewPr snapToGrid="0">
      <p:cViewPr varScale="1">
        <p:scale>
          <a:sx n="63" d="100"/>
          <a:sy n="63" d="100"/>
        </p:scale>
        <p:origin x="84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5" d="100"/>
          <a:sy n="65" d="100"/>
        </p:scale>
        <p:origin x="3154" y="6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viewProps" Target="view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C412D67-2B4E-9F55-6EDC-F2256BD0218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668C3D-E520-C942-CFB7-27E263C06F0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5296E7-6EEA-4CEF-8F27-97AAB1939405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EDE418-482A-7A43-F10A-2705951C158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3D5FD8-B708-FF93-D8FD-7A2F3AD6180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78EA95-EEDE-466E-B94C-8B572EEF9C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99486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Background pattern&#10;&#10;Description automatically generated">
            <a:extLst>
              <a:ext uri="{FF2B5EF4-FFF2-40B4-BE49-F238E27FC236}">
                <a16:creationId xmlns:a16="http://schemas.microsoft.com/office/drawing/2014/main" id="{0EA10B1E-4FA2-D72F-F444-DB648FFEBB9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82" t="1147" b="4270"/>
          <a:stretch/>
        </p:blipFill>
        <p:spPr>
          <a:xfrm>
            <a:off x="-28124" y="0"/>
            <a:ext cx="12220123" cy="6858000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F6931615-3EFD-406D-8CAB-500F498BBC2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89891" y="3006522"/>
            <a:ext cx="8937171" cy="1421928"/>
          </a:xfrm>
          <a:noFill/>
        </p:spPr>
        <p:txBody>
          <a:bodyPr wrap="square" rtlCol="0">
            <a:spAutoFit/>
          </a:bodyPr>
          <a:lstStyle>
            <a:lvl1pPr>
              <a:defRPr lang="en-US" sz="4800" b="1" dirty="0">
                <a:solidFill>
                  <a:schemeClr val="tx2"/>
                </a:solidFill>
                <a:latin typeface="Frutiger 45 Light" pitchFamily="2" charset="0"/>
                <a:ea typeface="Frutiger 45 Light" pitchFamily="2" charset="0"/>
                <a:cs typeface="Calibri" panose="020F0502020204030204" pitchFamily="34" charset="0"/>
              </a:defRPr>
            </a:lvl1pPr>
          </a:lstStyle>
          <a:p>
            <a:pPr marL="0" lvl="0"/>
            <a:r>
              <a:rPr lang="en-US" dirty="0"/>
              <a:t>Card Transaction Fraud Monitoring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5A4A541-3236-7C7A-108F-C328E38F391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64934" y="323988"/>
            <a:ext cx="2323604" cy="66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5855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13">
            <a:extLst>
              <a:ext uri="{FF2B5EF4-FFF2-40B4-BE49-F238E27FC236}">
                <a16:creationId xmlns:a16="http://schemas.microsoft.com/office/drawing/2014/main" id="{9B01B99F-2CE5-433C-8F7A-483D41C4A99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3399" y="469835"/>
            <a:ext cx="11125200" cy="43497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pic>
        <p:nvPicPr>
          <p:cNvPr id="22" name="Picture 21" descr="Background pattern&#10;&#10;Description automatically generated">
            <a:extLst>
              <a:ext uri="{FF2B5EF4-FFF2-40B4-BE49-F238E27FC236}">
                <a16:creationId xmlns:a16="http://schemas.microsoft.com/office/drawing/2014/main" id="{27D409DF-402A-DD18-BFCE-8888573143B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10813091" y="5882639"/>
            <a:ext cx="1388513" cy="989973"/>
          </a:xfrm>
          <a:prstGeom prst="rect">
            <a:avLst/>
          </a:prstGeom>
        </p:spPr>
      </p:pic>
      <p:sp>
        <p:nvSpPr>
          <p:cNvPr id="23" name="Marcador de número de diapositiva 5">
            <a:extLst>
              <a:ext uri="{FF2B5EF4-FFF2-40B4-BE49-F238E27FC236}">
                <a16:creationId xmlns:a16="http://schemas.microsoft.com/office/drawing/2014/main" id="{B982187F-CBBE-F09C-0F6F-730E0F0B1244}"/>
              </a:ext>
            </a:extLst>
          </p:cNvPr>
          <p:cNvSpPr txBox="1">
            <a:spLocks/>
          </p:cNvSpPr>
          <p:nvPr userDrawn="1"/>
        </p:nvSpPr>
        <p:spPr>
          <a:xfrm>
            <a:off x="11221092" y="6437871"/>
            <a:ext cx="828094" cy="324138"/>
          </a:xfrm>
          <a:prstGeom prst="rect">
            <a:avLst/>
          </a:prstGeom>
        </p:spPr>
        <p:txBody>
          <a:bodyPr lIns="104891" tIns="52445" rIns="104891" bIns="52445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F439014-E629-42E3-A58B-61A0F1C8CFFE}" type="slidenum">
              <a:rPr lang="en-US" sz="1200" b="0" smtClean="0">
                <a:solidFill>
                  <a:srgbClr val="00001E"/>
                </a:solidFill>
                <a:latin typeface="Frutiger 45 Light" pitchFamily="2" charset="0"/>
                <a:cs typeface="Calibri" panose="020F0502020204030204" pitchFamily="34" charset="0"/>
              </a:rPr>
              <a:pPr algn="r"/>
              <a:t>‹#›</a:t>
            </a:fld>
            <a:endParaRPr lang="en-US" sz="1200" b="0" dirty="0">
              <a:solidFill>
                <a:srgbClr val="00001E"/>
              </a:solidFill>
              <a:latin typeface="Frutiger 45 Light" pitchFamily="2" charset="0"/>
              <a:cs typeface="Calibri" panose="020F0502020204030204" pitchFamily="34" charset="0"/>
            </a:endParaRP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8E5456A7-BE66-D18D-4755-5BE1D37DDEF5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533400" y="1822450"/>
            <a:ext cx="11125200" cy="4351338"/>
          </a:xfrm>
        </p:spPr>
        <p:txBody>
          <a:bodyPr>
            <a:normAutofit/>
          </a:bodyPr>
          <a:lstStyle>
            <a:lvl1pPr>
              <a:defRPr lang="en-US" sz="1200" b="1" dirty="0" smtClean="0">
                <a:solidFill>
                  <a:srgbClr val="595959"/>
                </a:solidFill>
                <a:latin typeface="Frutiger 45 Light" pitchFamily="2" charset="0"/>
              </a:defRPr>
            </a:lvl1pPr>
            <a:lvl2pPr>
              <a:defRPr sz="1200">
                <a:solidFill>
                  <a:srgbClr val="595959"/>
                </a:solidFill>
                <a:latin typeface="Frutiger 45 Light" pitchFamily="2" charset="0"/>
              </a:defRPr>
            </a:lvl2pPr>
            <a:lvl3pPr>
              <a:defRPr sz="1200">
                <a:solidFill>
                  <a:srgbClr val="595959"/>
                </a:solidFill>
                <a:latin typeface="Frutiger 45 Light" pitchFamily="2" charset="0"/>
              </a:defRPr>
            </a:lvl3pPr>
            <a:lvl4pPr>
              <a:defRPr sz="1200">
                <a:solidFill>
                  <a:srgbClr val="595959"/>
                </a:solidFill>
                <a:latin typeface="Frutiger 45 Light" pitchFamily="2" charset="0"/>
              </a:defRPr>
            </a:lvl4pPr>
            <a:lvl5pPr>
              <a:defRPr sz="1200">
                <a:solidFill>
                  <a:srgbClr val="595959"/>
                </a:solidFill>
                <a:latin typeface="Frutiger 45 Light" pitchFamily="2" charset="0"/>
              </a:defRPr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  <a:p>
            <a:pPr marL="0" lvl="1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Second level</a:t>
            </a:r>
          </a:p>
          <a:p>
            <a:pPr marL="0" lvl="2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Third level</a:t>
            </a:r>
          </a:p>
          <a:p>
            <a:pPr marL="0" lvl="3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Fourth level</a:t>
            </a:r>
          </a:p>
          <a:p>
            <a:pPr marL="0" lvl="4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92352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32" userDrawn="1">
          <p15:clr>
            <a:srgbClr val="FBAE40"/>
          </p15:clr>
        </p15:guide>
        <p15:guide id="2" pos="336" userDrawn="1">
          <p15:clr>
            <a:srgbClr val="FBAE40"/>
          </p15:clr>
        </p15:guide>
        <p15:guide id="3" orient="horz" pos="288" userDrawn="1">
          <p15:clr>
            <a:srgbClr val="FBAE40"/>
          </p15:clr>
        </p15:guide>
        <p15:guide id="4" pos="7344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EF6D7890-7A93-4CCD-A699-B1D9038F321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33398" y="1497012"/>
            <a:ext cx="11125199" cy="2978005"/>
          </a:xfrm>
        </p:spPr>
        <p:txBody>
          <a:bodyPr numCol="1"/>
          <a:lstStyle>
            <a:lvl1pPr>
              <a:lnSpc>
                <a:spcPts val="1700"/>
              </a:lnSpc>
              <a:defRPr lang="en-US" sz="24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lnSpc>
                <a:spcPts val="1700"/>
              </a:lnSpc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42900" indent="-342900">
              <a:lnSpc>
                <a:spcPts val="1700"/>
              </a:lnSpc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68325" indent="-228600">
              <a:lnSpc>
                <a:spcPts val="1700"/>
              </a:lnSpc>
              <a:buClr>
                <a:schemeClr val="tx2">
                  <a:lumMod val="50000"/>
                </a:schemeClr>
              </a:buClr>
              <a:buFont typeface="Symbol" panose="05050102010706020507" pitchFamily="18" charset="2"/>
              <a:buChar char="-"/>
              <a:defRPr sz="1400">
                <a:latin typeface="+mn-lt"/>
              </a:defRPr>
            </a:lvl4pPr>
            <a:lvl5pPr marL="914400" indent="-228600">
              <a:lnSpc>
                <a:spcPts val="1700"/>
              </a:lnSpc>
              <a:buClr>
                <a:schemeClr val="tx2">
                  <a:lumMod val="50000"/>
                </a:schemeClr>
              </a:buClr>
              <a:buFont typeface="Symbol" panose="05050102010706020507" pitchFamily="18" charset="2"/>
              <a:buChar char="-"/>
              <a:defRPr sz="1400">
                <a:latin typeface="+mn-lt"/>
              </a:defRPr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  <a:p>
            <a:pPr marL="0" lvl="1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Second level</a:t>
            </a:r>
          </a:p>
          <a:p>
            <a:pPr marL="0" lvl="2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Third level</a:t>
            </a:r>
          </a:p>
          <a:p>
            <a:pPr marL="0" lvl="3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Fourth level</a:t>
            </a:r>
          </a:p>
          <a:p>
            <a:pPr marL="0" lvl="4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D4C9993D-5B34-D7A9-0B1C-5708E2ECAE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3399" y="469835"/>
            <a:ext cx="11125200" cy="43497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pic>
        <p:nvPicPr>
          <p:cNvPr id="7" name="Picture 6" descr="Background pattern&#10;&#10;Description automatically generated">
            <a:extLst>
              <a:ext uri="{FF2B5EF4-FFF2-40B4-BE49-F238E27FC236}">
                <a16:creationId xmlns:a16="http://schemas.microsoft.com/office/drawing/2014/main" id="{438F9EE4-1525-DA32-B6BF-F9D4E4DA00C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10813091" y="5882639"/>
            <a:ext cx="1388513" cy="989973"/>
          </a:xfrm>
          <a:prstGeom prst="rect">
            <a:avLst/>
          </a:prstGeom>
        </p:spPr>
      </p:pic>
      <p:sp>
        <p:nvSpPr>
          <p:cNvPr id="8" name="Marcador de número de diapositiva 5">
            <a:extLst>
              <a:ext uri="{FF2B5EF4-FFF2-40B4-BE49-F238E27FC236}">
                <a16:creationId xmlns:a16="http://schemas.microsoft.com/office/drawing/2014/main" id="{E9EC46A4-50CA-5032-642E-472F2C66E949}"/>
              </a:ext>
            </a:extLst>
          </p:cNvPr>
          <p:cNvSpPr txBox="1">
            <a:spLocks/>
          </p:cNvSpPr>
          <p:nvPr userDrawn="1"/>
        </p:nvSpPr>
        <p:spPr>
          <a:xfrm>
            <a:off x="11221092" y="6437871"/>
            <a:ext cx="828094" cy="324138"/>
          </a:xfrm>
          <a:prstGeom prst="rect">
            <a:avLst/>
          </a:prstGeom>
        </p:spPr>
        <p:txBody>
          <a:bodyPr lIns="104891" tIns="52445" rIns="104891" bIns="52445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F439014-E629-42E3-A58B-61A0F1C8CFFE}" type="slidenum">
              <a:rPr lang="en-US" sz="1200" b="0" smtClean="0">
                <a:solidFill>
                  <a:srgbClr val="00001E"/>
                </a:solidFill>
                <a:latin typeface="Frutiger 45 Light" pitchFamily="2" charset="0"/>
                <a:cs typeface="Calibri" panose="020F0502020204030204" pitchFamily="34" charset="0"/>
              </a:rPr>
              <a:pPr algn="r"/>
              <a:t>‹#›</a:t>
            </a:fld>
            <a:endParaRPr lang="en-US" sz="1200" b="0" dirty="0">
              <a:solidFill>
                <a:srgbClr val="00001E"/>
              </a:solidFill>
              <a:latin typeface="Frutiger 45 Light" pitchFamily="2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58657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36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EF6D7890-7A93-4CCD-A699-B1D9038F321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33398" y="1497012"/>
            <a:ext cx="11125199" cy="2978005"/>
          </a:xfrm>
        </p:spPr>
        <p:txBody>
          <a:bodyPr numCol="2">
            <a:normAutofit/>
          </a:bodyPr>
          <a:lstStyle>
            <a:lvl1pPr>
              <a:lnSpc>
                <a:spcPts val="1700"/>
              </a:lnSpc>
              <a:defRPr lang="en-US" sz="14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lnSpc>
                <a:spcPts val="1700"/>
              </a:lnSpc>
              <a:defRPr lang="en-US" sz="1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42900" indent="-342900">
              <a:lnSpc>
                <a:spcPts val="1700"/>
              </a:lnSpc>
              <a:defRPr lang="en-US" sz="1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68325" indent="-228600">
              <a:lnSpc>
                <a:spcPts val="1700"/>
              </a:lnSpc>
              <a:buClr>
                <a:schemeClr val="tx2">
                  <a:lumMod val="50000"/>
                </a:schemeClr>
              </a:buClr>
              <a:buFont typeface="Symbol" panose="05050102010706020507" pitchFamily="18" charset="2"/>
              <a:buChar char="-"/>
              <a:defRPr sz="1400">
                <a:latin typeface="+mn-lt"/>
              </a:defRPr>
            </a:lvl4pPr>
            <a:lvl5pPr marL="914400" indent="-228600">
              <a:lnSpc>
                <a:spcPts val="1700"/>
              </a:lnSpc>
              <a:buClr>
                <a:schemeClr val="tx2">
                  <a:lumMod val="50000"/>
                </a:schemeClr>
              </a:buClr>
              <a:buFont typeface="Symbol" panose="05050102010706020507" pitchFamily="18" charset="2"/>
              <a:buChar char="-"/>
              <a:defRPr sz="1400">
                <a:latin typeface="+mn-lt"/>
              </a:defRPr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  <a:p>
            <a:pPr marL="0" lvl="1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Second level</a:t>
            </a:r>
          </a:p>
          <a:p>
            <a:pPr marL="0" lvl="2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Third level</a:t>
            </a:r>
          </a:p>
          <a:p>
            <a:pPr marL="0" lvl="3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Fourth level</a:t>
            </a:r>
          </a:p>
          <a:p>
            <a:pPr marL="0" lvl="4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D4C9993D-5B34-D7A9-0B1C-5708E2ECAE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3399" y="469835"/>
            <a:ext cx="11125200" cy="43497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pic>
        <p:nvPicPr>
          <p:cNvPr id="7" name="Picture 6" descr="Background pattern&#10;&#10;Description automatically generated">
            <a:extLst>
              <a:ext uri="{FF2B5EF4-FFF2-40B4-BE49-F238E27FC236}">
                <a16:creationId xmlns:a16="http://schemas.microsoft.com/office/drawing/2014/main" id="{BAEB0E49-39B0-037C-0357-6C4472DC156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10813091" y="5882639"/>
            <a:ext cx="1388513" cy="989973"/>
          </a:xfrm>
          <a:prstGeom prst="rect">
            <a:avLst/>
          </a:prstGeom>
        </p:spPr>
      </p:pic>
      <p:sp>
        <p:nvSpPr>
          <p:cNvPr id="8" name="Marcador de número de diapositiva 5">
            <a:extLst>
              <a:ext uri="{FF2B5EF4-FFF2-40B4-BE49-F238E27FC236}">
                <a16:creationId xmlns:a16="http://schemas.microsoft.com/office/drawing/2014/main" id="{4E4B298F-D75D-0E89-ED3D-DF0CF1A87E27}"/>
              </a:ext>
            </a:extLst>
          </p:cNvPr>
          <p:cNvSpPr txBox="1">
            <a:spLocks/>
          </p:cNvSpPr>
          <p:nvPr userDrawn="1"/>
        </p:nvSpPr>
        <p:spPr>
          <a:xfrm>
            <a:off x="11221092" y="6437871"/>
            <a:ext cx="828094" cy="324138"/>
          </a:xfrm>
          <a:prstGeom prst="rect">
            <a:avLst/>
          </a:prstGeom>
        </p:spPr>
        <p:txBody>
          <a:bodyPr lIns="104891" tIns="52445" rIns="104891" bIns="52445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F439014-E629-42E3-A58B-61A0F1C8CFFE}" type="slidenum">
              <a:rPr lang="en-US" sz="1200" b="0" smtClean="0">
                <a:solidFill>
                  <a:srgbClr val="00001E"/>
                </a:solidFill>
                <a:latin typeface="Frutiger 45 Light" pitchFamily="2" charset="0"/>
                <a:cs typeface="Calibri" panose="020F0502020204030204" pitchFamily="34" charset="0"/>
              </a:rPr>
              <a:pPr algn="r"/>
              <a:t>‹#›</a:t>
            </a:fld>
            <a:endParaRPr lang="en-US" sz="1200" b="0" dirty="0">
              <a:solidFill>
                <a:srgbClr val="00001E"/>
              </a:solidFill>
              <a:latin typeface="Frutiger 45 Light" pitchFamily="2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66571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36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EF6D7890-7A93-4CCD-A699-B1D9038F321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33398" y="1497012"/>
            <a:ext cx="11125199" cy="2978005"/>
          </a:xfrm>
        </p:spPr>
        <p:txBody>
          <a:bodyPr numCol="3">
            <a:normAutofit/>
          </a:bodyPr>
          <a:lstStyle>
            <a:lvl1pPr>
              <a:lnSpc>
                <a:spcPts val="1700"/>
              </a:lnSpc>
              <a:defRPr lang="en-US" sz="14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lnSpc>
                <a:spcPts val="1700"/>
              </a:lnSpc>
              <a:defRPr lang="en-US" sz="1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42900" indent="-342900">
              <a:lnSpc>
                <a:spcPts val="1700"/>
              </a:lnSpc>
              <a:defRPr lang="en-US" sz="1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68325" indent="-228600">
              <a:lnSpc>
                <a:spcPts val="1700"/>
              </a:lnSpc>
              <a:buClr>
                <a:schemeClr val="tx2">
                  <a:lumMod val="50000"/>
                </a:schemeClr>
              </a:buClr>
              <a:buFont typeface="Symbol" panose="05050102010706020507" pitchFamily="18" charset="2"/>
              <a:buChar char="-"/>
              <a:defRPr sz="1400">
                <a:latin typeface="+mn-lt"/>
              </a:defRPr>
            </a:lvl4pPr>
            <a:lvl5pPr marL="914400" indent="-228600">
              <a:lnSpc>
                <a:spcPts val="1700"/>
              </a:lnSpc>
              <a:buClr>
                <a:schemeClr val="tx2">
                  <a:lumMod val="50000"/>
                </a:schemeClr>
              </a:buClr>
              <a:buFont typeface="Symbol" panose="05050102010706020507" pitchFamily="18" charset="2"/>
              <a:buChar char="-"/>
              <a:defRPr sz="1400">
                <a:latin typeface="+mn-lt"/>
              </a:defRPr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  <a:p>
            <a:pPr marL="0" lvl="1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Second level</a:t>
            </a:r>
          </a:p>
          <a:p>
            <a:pPr marL="0" lvl="2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Third level</a:t>
            </a:r>
          </a:p>
          <a:p>
            <a:pPr marL="0" lvl="3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Fourth level</a:t>
            </a:r>
          </a:p>
          <a:p>
            <a:pPr marL="0" lvl="4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D4C9993D-5B34-D7A9-0B1C-5708E2ECAE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3399" y="469835"/>
            <a:ext cx="11125200" cy="43497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pic>
        <p:nvPicPr>
          <p:cNvPr id="7" name="Picture 6" descr="Background pattern&#10;&#10;Description automatically generated">
            <a:extLst>
              <a:ext uri="{FF2B5EF4-FFF2-40B4-BE49-F238E27FC236}">
                <a16:creationId xmlns:a16="http://schemas.microsoft.com/office/drawing/2014/main" id="{07F8B13B-8E7C-F321-BF83-177D747B100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10813091" y="5882639"/>
            <a:ext cx="1388513" cy="989973"/>
          </a:xfrm>
          <a:prstGeom prst="rect">
            <a:avLst/>
          </a:prstGeom>
        </p:spPr>
      </p:pic>
      <p:sp>
        <p:nvSpPr>
          <p:cNvPr id="8" name="Marcador de número de diapositiva 5">
            <a:extLst>
              <a:ext uri="{FF2B5EF4-FFF2-40B4-BE49-F238E27FC236}">
                <a16:creationId xmlns:a16="http://schemas.microsoft.com/office/drawing/2014/main" id="{4BB16B3F-018F-71E7-B239-96DA6F36DEB4}"/>
              </a:ext>
            </a:extLst>
          </p:cNvPr>
          <p:cNvSpPr txBox="1">
            <a:spLocks/>
          </p:cNvSpPr>
          <p:nvPr userDrawn="1"/>
        </p:nvSpPr>
        <p:spPr>
          <a:xfrm>
            <a:off x="11221092" y="6437871"/>
            <a:ext cx="828094" cy="324138"/>
          </a:xfrm>
          <a:prstGeom prst="rect">
            <a:avLst/>
          </a:prstGeom>
        </p:spPr>
        <p:txBody>
          <a:bodyPr lIns="104891" tIns="52445" rIns="104891" bIns="52445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F439014-E629-42E3-A58B-61A0F1C8CFFE}" type="slidenum">
              <a:rPr lang="en-US" sz="1200" b="0" smtClean="0">
                <a:solidFill>
                  <a:srgbClr val="00001E"/>
                </a:solidFill>
                <a:latin typeface="Frutiger 45 Light" pitchFamily="2" charset="0"/>
                <a:cs typeface="Calibri" panose="020F0502020204030204" pitchFamily="34" charset="0"/>
              </a:rPr>
              <a:pPr algn="r"/>
              <a:t>‹#›</a:t>
            </a:fld>
            <a:endParaRPr lang="en-US" sz="1200" b="0" dirty="0">
              <a:solidFill>
                <a:srgbClr val="00001E"/>
              </a:solidFill>
              <a:latin typeface="Frutiger 45 Light" pitchFamily="2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64521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36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CF55D43F-875F-4E2B-82B9-5EEDDAEA63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8" y="989299"/>
            <a:ext cx="8610601" cy="2852737"/>
          </a:xfrm>
        </p:spPr>
        <p:txBody>
          <a:bodyPr anchor="b">
            <a:normAutofit/>
          </a:bodyPr>
          <a:lstStyle>
            <a:lvl1pPr>
              <a:defRPr lang="en-US" sz="4400" b="1" kern="1200" dirty="0">
                <a:solidFill>
                  <a:srgbClr val="595959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F18B4745-7445-43DB-B108-3CDCB28A7A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3398" y="3869024"/>
            <a:ext cx="8610602" cy="1500187"/>
          </a:xfrm>
        </p:spPr>
        <p:txBody>
          <a:bodyPr/>
          <a:lstStyle>
            <a:lvl1pPr marL="0" indent="0">
              <a:buNone/>
              <a:defRPr sz="2400">
                <a:solidFill>
                  <a:srgbClr val="595959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13">
            <a:extLst>
              <a:ext uri="{FF2B5EF4-FFF2-40B4-BE49-F238E27FC236}">
                <a16:creationId xmlns:a16="http://schemas.microsoft.com/office/drawing/2014/main" id="{5A424433-CA37-48A1-EF7E-E44DEC8944A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3399" y="469835"/>
            <a:ext cx="11125200" cy="43497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pic>
        <p:nvPicPr>
          <p:cNvPr id="10" name="Picture 9" descr="Background pattern&#10;&#10;Description automatically generated">
            <a:extLst>
              <a:ext uri="{FF2B5EF4-FFF2-40B4-BE49-F238E27FC236}">
                <a16:creationId xmlns:a16="http://schemas.microsoft.com/office/drawing/2014/main" id="{7B593DD1-E696-84F5-997E-395CB4B3403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10813091" y="5882639"/>
            <a:ext cx="1388513" cy="989973"/>
          </a:xfrm>
          <a:prstGeom prst="rect">
            <a:avLst/>
          </a:prstGeom>
        </p:spPr>
      </p:pic>
      <p:sp>
        <p:nvSpPr>
          <p:cNvPr id="18" name="Marcador de número de diapositiva 5">
            <a:extLst>
              <a:ext uri="{FF2B5EF4-FFF2-40B4-BE49-F238E27FC236}">
                <a16:creationId xmlns:a16="http://schemas.microsoft.com/office/drawing/2014/main" id="{179C2830-1743-9FEA-4F66-BCE7925B9DB5}"/>
              </a:ext>
            </a:extLst>
          </p:cNvPr>
          <p:cNvSpPr txBox="1">
            <a:spLocks/>
          </p:cNvSpPr>
          <p:nvPr userDrawn="1"/>
        </p:nvSpPr>
        <p:spPr>
          <a:xfrm>
            <a:off x="11221092" y="6437871"/>
            <a:ext cx="828094" cy="324138"/>
          </a:xfrm>
          <a:prstGeom prst="rect">
            <a:avLst/>
          </a:prstGeom>
        </p:spPr>
        <p:txBody>
          <a:bodyPr lIns="104891" tIns="52445" rIns="104891" bIns="52445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F439014-E629-42E3-A58B-61A0F1C8CFFE}" type="slidenum">
              <a:rPr lang="en-US" sz="1200" b="0" smtClean="0">
                <a:solidFill>
                  <a:srgbClr val="00001E"/>
                </a:solidFill>
                <a:latin typeface="Frutiger 45 Light" pitchFamily="2" charset="0"/>
                <a:cs typeface="Calibri" panose="020F0502020204030204" pitchFamily="34" charset="0"/>
              </a:rPr>
              <a:pPr algn="r"/>
              <a:t>‹#›</a:t>
            </a:fld>
            <a:endParaRPr lang="en-US" sz="1200" b="0" dirty="0">
              <a:solidFill>
                <a:srgbClr val="00001E"/>
              </a:solidFill>
              <a:latin typeface="Frutiger 45 Light" pitchFamily="2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88861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DA6A7051-5A82-D471-602E-39E158F6B13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4" y="0"/>
            <a:ext cx="12181172" cy="6858000"/>
          </a:xfrm>
          <a:prstGeom prst="rect">
            <a:avLst/>
          </a:prstGeom>
        </p:spPr>
      </p:pic>
      <p:sp>
        <p:nvSpPr>
          <p:cNvPr id="17" name="Title 1">
            <a:extLst>
              <a:ext uri="{FF2B5EF4-FFF2-40B4-BE49-F238E27FC236}">
                <a16:creationId xmlns:a16="http://schemas.microsoft.com/office/drawing/2014/main" id="{81628252-EFFE-45BA-BB6B-80B43271D7B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93242" y="1508588"/>
            <a:ext cx="5864980" cy="2852737"/>
          </a:xfrm>
        </p:spPr>
        <p:txBody>
          <a:bodyPr anchor="b">
            <a:normAutofit/>
          </a:bodyPr>
          <a:lstStyle>
            <a:lvl1pPr>
              <a:defRPr lang="en-US" sz="44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edit title style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4994D909-A7BC-465C-8A9B-65471E73FB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93242" y="4388313"/>
            <a:ext cx="586498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7921F3B-DFDD-3880-4A59-92315D909E94}"/>
              </a:ext>
            </a:extLst>
          </p:cNvPr>
          <p:cNvSpPr txBox="1"/>
          <p:nvPr userDrawn="1"/>
        </p:nvSpPr>
        <p:spPr>
          <a:xfrm>
            <a:off x="3048000" y="6425185"/>
            <a:ext cx="6096000" cy="248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000" dirty="0">
                <a:solidFill>
                  <a:schemeClr val="bg2"/>
                </a:solidFill>
                <a:effectLst/>
                <a:latin typeface="Frutiger LT Pro 45 Light" panose="020B0403030504020204" pitchFamily="34" charset="77"/>
                <a:ea typeface="Frutiger LT Pro 45 Light" panose="020B0403030504020204" pitchFamily="34" charset="77"/>
                <a:cs typeface="Calibri" panose="020F0502020204030204" pitchFamily="34" charset="0"/>
              </a:rPr>
              <a:t>©</a:t>
            </a:r>
            <a:r>
              <a:rPr lang="en-US" sz="1000" dirty="0" err="1">
                <a:solidFill>
                  <a:schemeClr val="bg2"/>
                </a:solidFill>
                <a:effectLst/>
                <a:latin typeface="Frutiger LT Pro 45 Light" panose="020B0403030504020204" pitchFamily="34" charset="77"/>
                <a:ea typeface="Frutiger LT Pro 45 Light" panose="020B0403030504020204" pitchFamily="34" charset="77"/>
                <a:cs typeface="Calibri" panose="020F0502020204030204" pitchFamily="34" charset="0"/>
              </a:rPr>
              <a:t>LTIMindtree</a:t>
            </a:r>
            <a:r>
              <a:rPr lang="en-US" sz="1000" dirty="0">
                <a:solidFill>
                  <a:schemeClr val="bg2"/>
                </a:solidFill>
                <a:effectLst/>
                <a:latin typeface="Frutiger LT Pro 45 Light" panose="020B0403030504020204" pitchFamily="34" charset="77"/>
                <a:ea typeface="Frutiger LT Pro 45 Light" panose="020B0403030504020204" pitchFamily="34" charset="77"/>
                <a:cs typeface="Calibri" panose="020F0502020204030204" pitchFamily="34" charset="0"/>
              </a:rPr>
              <a:t> | Privileged and Confidential 2022</a:t>
            </a:r>
            <a:endParaRPr lang="en-IN" sz="1000" dirty="0">
              <a:solidFill>
                <a:schemeClr val="bg2"/>
              </a:solidFill>
              <a:effectLst/>
              <a:latin typeface="Frutiger LT Pro 45 Light" panose="020B0403030504020204" pitchFamily="34" charset="77"/>
              <a:ea typeface="Frutiger LT Pro 45 Light" panose="020B0403030504020204" pitchFamily="34" charset="77"/>
              <a:cs typeface="Calibri" panose="020F050202020403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227DD45-CE2E-85E8-642D-93DED37DD35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lum bright="100000" contrast="10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341" y="6373111"/>
            <a:ext cx="1369134" cy="388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12287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BDD9C106-CE49-4F1B-A6DE-3C9818CAFB5C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533399" y="1655302"/>
            <a:ext cx="5486399" cy="4351338"/>
          </a:xfrm>
        </p:spPr>
        <p:txBody>
          <a:bodyPr/>
          <a:lstStyle>
            <a:lvl1pPr>
              <a:defRPr lang="en-US" sz="2400" b="1" dirty="0" smtClean="0">
                <a:solidFill>
                  <a:srgbClr val="595959"/>
                </a:solidFill>
                <a:latin typeface="Frutiger 45 Light" pitchFamily="2" charset="0"/>
              </a:defRPr>
            </a:lvl1pPr>
            <a:lvl2pPr>
              <a:defRPr sz="2000">
                <a:solidFill>
                  <a:srgbClr val="595959"/>
                </a:solidFill>
                <a:latin typeface="Frutiger 45 Light" pitchFamily="2" charset="0"/>
              </a:defRPr>
            </a:lvl2pPr>
            <a:lvl3pPr>
              <a:defRPr sz="1800">
                <a:solidFill>
                  <a:srgbClr val="595959"/>
                </a:solidFill>
                <a:latin typeface="Frutiger 45 Light" pitchFamily="2" charset="0"/>
              </a:defRPr>
            </a:lvl3pPr>
            <a:lvl4pPr>
              <a:defRPr sz="1400">
                <a:solidFill>
                  <a:srgbClr val="595959"/>
                </a:solidFill>
                <a:latin typeface="Frutiger 45 Light" pitchFamily="2" charset="0"/>
              </a:defRPr>
            </a:lvl4pPr>
            <a:lvl5pPr>
              <a:defRPr sz="1400">
                <a:solidFill>
                  <a:srgbClr val="595959"/>
                </a:solidFill>
                <a:latin typeface="Frutiger 45 Light" pitchFamily="2" charset="0"/>
              </a:defRPr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  <a:p>
            <a:pPr marL="0" lvl="1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Second level</a:t>
            </a:r>
          </a:p>
          <a:p>
            <a:pPr marL="0" lvl="2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Third level</a:t>
            </a:r>
          </a:p>
          <a:p>
            <a:pPr marL="0" lvl="3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Fourth level</a:t>
            </a:r>
          </a:p>
          <a:p>
            <a:pPr marL="0" lvl="4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0E8BB916-CDFC-439C-B0EF-513AE7B06ACB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6172201" y="1655302"/>
            <a:ext cx="5486398" cy="4351338"/>
          </a:xfrm>
        </p:spPr>
        <p:txBody>
          <a:bodyPr/>
          <a:lstStyle>
            <a:lvl1pPr>
              <a:defRPr lang="en-US" sz="2400" b="1" dirty="0" smtClean="0">
                <a:solidFill>
                  <a:srgbClr val="595959"/>
                </a:solidFill>
                <a:latin typeface="Frutiger 45 Light" pitchFamily="2" charset="0"/>
              </a:defRPr>
            </a:lvl1pPr>
            <a:lvl2pPr>
              <a:defRPr sz="2000">
                <a:solidFill>
                  <a:srgbClr val="595959"/>
                </a:solidFill>
                <a:latin typeface="Frutiger 45 Light" pitchFamily="2" charset="0"/>
              </a:defRPr>
            </a:lvl2pPr>
            <a:lvl3pPr>
              <a:defRPr sz="1800">
                <a:solidFill>
                  <a:srgbClr val="595959"/>
                </a:solidFill>
                <a:latin typeface="Frutiger 45 Light" pitchFamily="2" charset="0"/>
              </a:defRPr>
            </a:lvl3pPr>
            <a:lvl4pPr>
              <a:defRPr sz="1400">
                <a:solidFill>
                  <a:srgbClr val="595959"/>
                </a:solidFill>
                <a:latin typeface="Frutiger 45 Light" pitchFamily="2" charset="0"/>
              </a:defRPr>
            </a:lvl4pPr>
            <a:lvl5pPr>
              <a:defRPr sz="1400">
                <a:solidFill>
                  <a:srgbClr val="595959"/>
                </a:solidFill>
                <a:latin typeface="Frutiger 45 Light" pitchFamily="2" charset="0"/>
              </a:defRPr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  <a:p>
            <a:pPr marL="0" lvl="1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Second level</a:t>
            </a:r>
          </a:p>
          <a:p>
            <a:pPr marL="0" lvl="2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Third level</a:t>
            </a:r>
          </a:p>
          <a:p>
            <a:pPr marL="0" lvl="3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Fourth level</a:t>
            </a:r>
          </a:p>
          <a:p>
            <a:pPr marL="0" lvl="4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20" name="Text Placeholder 13">
            <a:extLst>
              <a:ext uri="{FF2B5EF4-FFF2-40B4-BE49-F238E27FC236}">
                <a16:creationId xmlns:a16="http://schemas.microsoft.com/office/drawing/2014/main" id="{78651CBE-E342-762C-71AB-7A346C0BD1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3399" y="469835"/>
            <a:ext cx="11125200" cy="43497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pic>
        <p:nvPicPr>
          <p:cNvPr id="8" name="Picture 7" descr="Background pattern&#10;&#10;Description automatically generated">
            <a:extLst>
              <a:ext uri="{FF2B5EF4-FFF2-40B4-BE49-F238E27FC236}">
                <a16:creationId xmlns:a16="http://schemas.microsoft.com/office/drawing/2014/main" id="{0D37EA21-4965-A1A5-EFE5-F1DB9D9A984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10813091" y="5882639"/>
            <a:ext cx="1388513" cy="989973"/>
          </a:xfrm>
          <a:prstGeom prst="rect">
            <a:avLst/>
          </a:prstGeom>
        </p:spPr>
      </p:pic>
      <p:sp>
        <p:nvSpPr>
          <p:cNvPr id="11" name="Marcador de número de diapositiva 5">
            <a:extLst>
              <a:ext uri="{FF2B5EF4-FFF2-40B4-BE49-F238E27FC236}">
                <a16:creationId xmlns:a16="http://schemas.microsoft.com/office/drawing/2014/main" id="{CACE2F8E-F80A-F347-8E9C-243A79D7388E}"/>
              </a:ext>
            </a:extLst>
          </p:cNvPr>
          <p:cNvSpPr txBox="1">
            <a:spLocks/>
          </p:cNvSpPr>
          <p:nvPr userDrawn="1"/>
        </p:nvSpPr>
        <p:spPr>
          <a:xfrm>
            <a:off x="11221092" y="6437871"/>
            <a:ext cx="828094" cy="324138"/>
          </a:xfrm>
          <a:prstGeom prst="rect">
            <a:avLst/>
          </a:prstGeom>
        </p:spPr>
        <p:txBody>
          <a:bodyPr lIns="104891" tIns="52445" rIns="104891" bIns="52445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F439014-E629-42E3-A58B-61A0F1C8CFFE}" type="slidenum">
              <a:rPr lang="en-US" sz="1200" b="0" smtClean="0">
                <a:solidFill>
                  <a:srgbClr val="00001E"/>
                </a:solidFill>
                <a:latin typeface="Frutiger 45 Light" pitchFamily="2" charset="0"/>
                <a:cs typeface="Calibri" panose="020F0502020204030204" pitchFamily="34" charset="0"/>
              </a:rPr>
              <a:pPr algn="r"/>
              <a:t>‹#›</a:t>
            </a:fld>
            <a:endParaRPr lang="en-US" sz="1200" b="0" dirty="0">
              <a:solidFill>
                <a:srgbClr val="00001E"/>
              </a:solidFill>
              <a:latin typeface="Frutiger 45 Light" pitchFamily="2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92783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704641-62E4-4217-A4FB-1461DCB349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3399" y="1436914"/>
            <a:ext cx="5533119" cy="1068161"/>
          </a:xfrm>
        </p:spPr>
        <p:txBody>
          <a:bodyPr anchor="b">
            <a:noAutofit/>
          </a:bodyPr>
          <a:lstStyle>
            <a:lvl1pPr marL="0" indent="0">
              <a:buNone/>
              <a:defRPr lang="en-US" sz="2400" b="1" kern="1200" dirty="0">
                <a:solidFill>
                  <a:srgbClr val="595959"/>
                </a:solidFill>
                <a:latin typeface="+mj-lt"/>
                <a:ea typeface="+mn-ea"/>
                <a:cs typeface="Calibri" panose="020F05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BF8DFE-7699-41E5-ACEB-81719A7EB9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41141" y="1436914"/>
            <a:ext cx="5417458" cy="1068161"/>
          </a:xfrm>
        </p:spPr>
        <p:txBody>
          <a:bodyPr anchor="b">
            <a:noAutofit/>
          </a:bodyPr>
          <a:lstStyle>
            <a:lvl1pPr marL="0" indent="0">
              <a:buNone/>
              <a:defRPr lang="en-US" sz="2400" b="1" kern="1200" dirty="0">
                <a:solidFill>
                  <a:srgbClr val="595959"/>
                </a:solidFill>
                <a:latin typeface="+mj-lt"/>
                <a:ea typeface="+mn-ea"/>
                <a:cs typeface="Calibri" panose="020F05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F54FF91B-5FE4-409D-BA7F-37376CD5E4AB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533399" y="2651506"/>
            <a:ext cx="5533119" cy="3432302"/>
          </a:xfrm>
        </p:spPr>
        <p:txBody>
          <a:bodyPr/>
          <a:lstStyle>
            <a:lvl1pPr>
              <a:defRPr lang="en-US" sz="2400" b="1" dirty="0" smtClean="0">
                <a:solidFill>
                  <a:srgbClr val="595959"/>
                </a:solidFill>
                <a:latin typeface="Frutiger 45 Light" pitchFamily="2" charset="0"/>
              </a:defRPr>
            </a:lvl1pPr>
            <a:lvl2pPr>
              <a:defRPr sz="2000">
                <a:solidFill>
                  <a:srgbClr val="595959"/>
                </a:solidFill>
                <a:latin typeface="Frutiger 45 Light" pitchFamily="2" charset="0"/>
              </a:defRPr>
            </a:lvl2pPr>
            <a:lvl3pPr>
              <a:defRPr sz="1800">
                <a:solidFill>
                  <a:srgbClr val="595959"/>
                </a:solidFill>
                <a:latin typeface="Frutiger 45 Light" pitchFamily="2" charset="0"/>
              </a:defRPr>
            </a:lvl3pPr>
            <a:lvl4pPr>
              <a:defRPr sz="1400">
                <a:solidFill>
                  <a:srgbClr val="595959"/>
                </a:solidFill>
                <a:latin typeface="Frutiger 45 Light" pitchFamily="2" charset="0"/>
              </a:defRPr>
            </a:lvl4pPr>
            <a:lvl5pPr>
              <a:defRPr sz="1400">
                <a:solidFill>
                  <a:srgbClr val="595959"/>
                </a:solidFill>
                <a:latin typeface="Frutiger 45 Light" pitchFamily="2" charset="0"/>
              </a:defRPr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  <a:p>
            <a:pPr marL="0" lvl="1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Second level</a:t>
            </a:r>
          </a:p>
          <a:p>
            <a:pPr marL="0" lvl="2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Third level</a:t>
            </a:r>
          </a:p>
          <a:p>
            <a:pPr marL="0" lvl="3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Fourth level</a:t>
            </a:r>
          </a:p>
          <a:p>
            <a:pPr marL="0" lvl="4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CFDB344D-832A-4E14-93A2-EF0879A2EDA0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6241141" y="2663457"/>
            <a:ext cx="5417458" cy="3432302"/>
          </a:xfrm>
        </p:spPr>
        <p:txBody>
          <a:bodyPr/>
          <a:lstStyle>
            <a:lvl1pPr>
              <a:defRPr lang="en-US" sz="2400" b="1" dirty="0" smtClean="0">
                <a:solidFill>
                  <a:srgbClr val="595959"/>
                </a:solidFill>
                <a:latin typeface="Frutiger 45 Light" pitchFamily="2" charset="0"/>
              </a:defRPr>
            </a:lvl1pPr>
            <a:lvl2pPr>
              <a:defRPr sz="2000">
                <a:solidFill>
                  <a:srgbClr val="595959"/>
                </a:solidFill>
                <a:latin typeface="Frutiger 45 Light" pitchFamily="2" charset="0"/>
              </a:defRPr>
            </a:lvl2pPr>
            <a:lvl3pPr>
              <a:defRPr sz="1800">
                <a:solidFill>
                  <a:srgbClr val="595959"/>
                </a:solidFill>
                <a:latin typeface="Frutiger 45 Light" pitchFamily="2" charset="0"/>
              </a:defRPr>
            </a:lvl3pPr>
            <a:lvl4pPr>
              <a:defRPr sz="1400">
                <a:solidFill>
                  <a:srgbClr val="595959"/>
                </a:solidFill>
                <a:latin typeface="Frutiger 45 Light" pitchFamily="2" charset="0"/>
              </a:defRPr>
            </a:lvl4pPr>
            <a:lvl5pPr>
              <a:defRPr sz="1400">
                <a:solidFill>
                  <a:srgbClr val="595959"/>
                </a:solidFill>
                <a:latin typeface="Frutiger 45 Light" pitchFamily="2" charset="0"/>
              </a:defRPr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  <a:p>
            <a:pPr marL="0" lvl="1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Second level</a:t>
            </a:r>
          </a:p>
          <a:p>
            <a:pPr marL="0" lvl="2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Third level</a:t>
            </a:r>
          </a:p>
          <a:p>
            <a:pPr marL="0" lvl="3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Fourth level</a:t>
            </a:r>
          </a:p>
          <a:p>
            <a:pPr marL="0" lvl="4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EF8A07F5-F0F3-56A0-B462-8A048CE6942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3399" y="469835"/>
            <a:ext cx="11125200" cy="43497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pic>
        <p:nvPicPr>
          <p:cNvPr id="10" name="Picture 9" descr="Background pattern&#10;&#10;Description automatically generated">
            <a:extLst>
              <a:ext uri="{FF2B5EF4-FFF2-40B4-BE49-F238E27FC236}">
                <a16:creationId xmlns:a16="http://schemas.microsoft.com/office/drawing/2014/main" id="{4DD8A8A8-2642-F3FA-DCC7-296A6B23D36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10813091" y="5882639"/>
            <a:ext cx="1388513" cy="989973"/>
          </a:xfrm>
          <a:prstGeom prst="rect">
            <a:avLst/>
          </a:prstGeom>
        </p:spPr>
      </p:pic>
      <p:sp>
        <p:nvSpPr>
          <p:cNvPr id="14" name="Marcador de número de diapositiva 5">
            <a:extLst>
              <a:ext uri="{FF2B5EF4-FFF2-40B4-BE49-F238E27FC236}">
                <a16:creationId xmlns:a16="http://schemas.microsoft.com/office/drawing/2014/main" id="{0A8FC8DD-D1CD-B223-1096-CE2AAC973F80}"/>
              </a:ext>
            </a:extLst>
          </p:cNvPr>
          <p:cNvSpPr txBox="1">
            <a:spLocks/>
          </p:cNvSpPr>
          <p:nvPr userDrawn="1"/>
        </p:nvSpPr>
        <p:spPr>
          <a:xfrm>
            <a:off x="11221092" y="6437871"/>
            <a:ext cx="828094" cy="324138"/>
          </a:xfrm>
          <a:prstGeom prst="rect">
            <a:avLst/>
          </a:prstGeom>
        </p:spPr>
        <p:txBody>
          <a:bodyPr lIns="104891" tIns="52445" rIns="104891" bIns="52445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F439014-E629-42E3-A58B-61A0F1C8CFFE}" type="slidenum">
              <a:rPr lang="en-US" sz="1200" b="0" smtClean="0">
                <a:solidFill>
                  <a:srgbClr val="00001E"/>
                </a:solidFill>
                <a:latin typeface="Frutiger 45 Light" pitchFamily="2" charset="0"/>
                <a:cs typeface="Calibri" panose="020F0502020204030204" pitchFamily="34" charset="0"/>
              </a:rPr>
              <a:pPr algn="r"/>
              <a:t>‹#›</a:t>
            </a:fld>
            <a:endParaRPr lang="en-US" sz="1200" b="0" dirty="0">
              <a:solidFill>
                <a:srgbClr val="00001E"/>
              </a:solidFill>
              <a:latin typeface="Frutiger 45 Light" pitchFamily="2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1920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Background pattern&#10;&#10;Description automatically generated">
            <a:extLst>
              <a:ext uri="{FF2B5EF4-FFF2-40B4-BE49-F238E27FC236}">
                <a16:creationId xmlns:a16="http://schemas.microsoft.com/office/drawing/2014/main" id="{76CF0EE8-1D27-DB0B-D74F-2627C320CB3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10813091" y="5882639"/>
            <a:ext cx="1388513" cy="989973"/>
          </a:xfrm>
          <a:prstGeom prst="rect">
            <a:avLst/>
          </a:prstGeom>
        </p:spPr>
      </p:pic>
      <p:sp>
        <p:nvSpPr>
          <p:cNvPr id="4" name="Marcador de número de diapositiva 5">
            <a:extLst>
              <a:ext uri="{FF2B5EF4-FFF2-40B4-BE49-F238E27FC236}">
                <a16:creationId xmlns:a16="http://schemas.microsoft.com/office/drawing/2014/main" id="{3CBCC0C3-A39C-312F-C0F0-B965E11FFDA0}"/>
              </a:ext>
            </a:extLst>
          </p:cNvPr>
          <p:cNvSpPr txBox="1">
            <a:spLocks/>
          </p:cNvSpPr>
          <p:nvPr userDrawn="1"/>
        </p:nvSpPr>
        <p:spPr>
          <a:xfrm>
            <a:off x="11221092" y="6437871"/>
            <a:ext cx="828094" cy="324138"/>
          </a:xfrm>
          <a:prstGeom prst="rect">
            <a:avLst/>
          </a:prstGeom>
        </p:spPr>
        <p:txBody>
          <a:bodyPr lIns="104891" tIns="52445" rIns="104891" bIns="52445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F439014-E629-42E3-A58B-61A0F1C8CFFE}" type="slidenum">
              <a:rPr lang="en-US" sz="1200" b="0" smtClean="0">
                <a:solidFill>
                  <a:srgbClr val="00001E"/>
                </a:solidFill>
                <a:latin typeface="Frutiger 45 Light" pitchFamily="2" charset="0"/>
                <a:cs typeface="Calibri" panose="020F0502020204030204" pitchFamily="34" charset="0"/>
              </a:rPr>
              <a:pPr algn="r"/>
              <a:t>‹#›</a:t>
            </a:fld>
            <a:endParaRPr lang="en-US" sz="1200" b="0" dirty="0">
              <a:solidFill>
                <a:srgbClr val="00001E"/>
              </a:solidFill>
              <a:latin typeface="Frutiger 45 Light" pitchFamily="2" charset="0"/>
              <a:cs typeface="Calibri" panose="020F0502020204030204" pitchFamily="34" charset="0"/>
            </a:endParaRPr>
          </a:p>
        </p:txBody>
      </p:sp>
      <p:pic>
        <p:nvPicPr>
          <p:cNvPr id="9" name="Picture 8" descr="Background pattern&#10;&#10;Description automatically generated">
            <a:extLst>
              <a:ext uri="{FF2B5EF4-FFF2-40B4-BE49-F238E27FC236}">
                <a16:creationId xmlns:a16="http://schemas.microsoft.com/office/drawing/2014/main" id="{0E2AFA92-4A8A-D692-CB16-A5351C9E577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0862"/>
            <a:ext cx="5760164" cy="4106844"/>
          </a:xfrm>
          <a:prstGeom prst="rect">
            <a:avLst/>
          </a:prstGeom>
        </p:spPr>
      </p:pic>
      <p:sp>
        <p:nvSpPr>
          <p:cNvPr id="8" name="Text Placeholder 13">
            <a:extLst>
              <a:ext uri="{FF2B5EF4-FFF2-40B4-BE49-F238E27FC236}">
                <a16:creationId xmlns:a16="http://schemas.microsoft.com/office/drawing/2014/main" id="{773A9ED4-9BDF-42B0-B98D-5F105B1AC11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646042" y="961005"/>
            <a:ext cx="8911647" cy="43497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dirty="0">
                <a:solidFill>
                  <a:srgbClr val="595959"/>
                </a:solidFill>
                <a:latin typeface="+mj-lt"/>
              </a:defRPr>
            </a:lvl1pPr>
          </a:lstStyle>
          <a:p>
            <a:pPr marL="0" lvl="0" indent="0">
              <a:buFontTx/>
              <a:buNone/>
            </a:pPr>
            <a:r>
              <a:rPr lang="en-US" dirty="0"/>
              <a:t>Title Here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EB90635A-C270-48A0-A1B0-C1B896E998AA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1663792" y="1712849"/>
            <a:ext cx="8864415" cy="3432302"/>
          </a:xfrm>
        </p:spPr>
        <p:txBody>
          <a:bodyPr/>
          <a:lstStyle>
            <a:lvl1pPr>
              <a:defRPr lang="en-US" sz="2400" b="1" dirty="0" smtClean="0">
                <a:solidFill>
                  <a:srgbClr val="595959"/>
                </a:solidFill>
                <a:latin typeface="Frutiger 45 Light" pitchFamily="2" charset="0"/>
              </a:defRPr>
            </a:lvl1pPr>
            <a:lvl2pPr marL="114300" indent="-342900">
              <a:buFont typeface="Wingdings" pitchFamily="2" charset="2"/>
              <a:buChar char="§"/>
              <a:defRPr sz="2000">
                <a:solidFill>
                  <a:srgbClr val="595959"/>
                </a:solidFill>
                <a:latin typeface="Frutiger 45 Light" pitchFamily="2" charset="0"/>
              </a:defRPr>
            </a:lvl2pPr>
            <a:lvl3pPr marL="1085850" indent="-285750">
              <a:buFont typeface="Wingdings" pitchFamily="2" charset="2"/>
              <a:buChar char="§"/>
              <a:defRPr sz="1800">
                <a:solidFill>
                  <a:srgbClr val="595959"/>
                </a:solidFill>
                <a:latin typeface="Frutiger 45 Light" pitchFamily="2" charset="0"/>
              </a:defRPr>
            </a:lvl3pPr>
            <a:lvl4pPr marL="1600200" indent="-285750">
              <a:buFont typeface="Wingdings" pitchFamily="2" charset="2"/>
              <a:buChar char="§"/>
              <a:defRPr sz="1400">
                <a:solidFill>
                  <a:srgbClr val="595959"/>
                </a:solidFill>
                <a:latin typeface="Frutiger 45 Light" pitchFamily="2" charset="0"/>
              </a:defRPr>
            </a:lvl4pPr>
            <a:lvl5pPr>
              <a:buFont typeface="Wingdings" pitchFamily="2" charset="2"/>
              <a:buChar char="§"/>
              <a:defRPr sz="1400">
                <a:solidFill>
                  <a:srgbClr val="595959"/>
                </a:solidFill>
                <a:latin typeface="Frutiger 45 Light" pitchFamily="2" charset="0"/>
              </a:defRPr>
            </a:lvl5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</a:pPr>
            <a:r>
              <a:rPr lang="en-US"/>
              <a:t>Click to edit Master text styles</a:t>
            </a:r>
          </a:p>
          <a:p>
            <a:pPr marL="228600" lvl="1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</a:pPr>
            <a:r>
              <a:rPr lang="en-US"/>
              <a:t>Second level</a:t>
            </a:r>
          </a:p>
          <a:p>
            <a:pPr marL="228600" lvl="2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</a:pPr>
            <a:r>
              <a:rPr lang="en-US"/>
              <a:t>Third level</a:t>
            </a:r>
          </a:p>
          <a:p>
            <a:pPr marL="228600" lvl="3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</a:pPr>
            <a:r>
              <a:rPr lang="en-US"/>
              <a:t>Fourth level</a:t>
            </a:r>
          </a:p>
          <a:p>
            <a:pPr marL="228600" lvl="4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</a:pPr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8689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815C7D-CC90-4232-9BFD-B2B1B29D3D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400" y="1163411"/>
            <a:ext cx="10515600" cy="1325563"/>
          </a:xfrm>
        </p:spPr>
        <p:txBody>
          <a:bodyPr>
            <a:normAutofit/>
          </a:bodyPr>
          <a:lstStyle>
            <a:lvl1pPr>
              <a:defRPr lang="en-US" sz="2800" b="1" kern="1200" dirty="0">
                <a:solidFill>
                  <a:srgbClr val="595959"/>
                </a:solidFill>
                <a:latin typeface="Frutiger 45 Light" pitchFamily="2" charset="0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Headline goes here</a:t>
            </a:r>
            <a:br>
              <a:rPr lang="en-US" dirty="0"/>
            </a:br>
            <a:r>
              <a:rPr lang="en-US" dirty="0"/>
              <a:t>Headline goes here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6252767-4743-47D6-B4D1-07FC2385DD2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33400" y="2815546"/>
            <a:ext cx="10515600" cy="2743200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595959"/>
                </a:solidFill>
                <a:latin typeface="Frutiger 45 Light" pitchFamily="2" charset="0"/>
                <a:cs typeface="Calibri" panose="020F0502020204030204" pitchFamily="3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11611A3D-47D0-3647-0CCE-0CB7D32E60C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3399" y="469835"/>
            <a:ext cx="11125200" cy="43497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pic>
        <p:nvPicPr>
          <p:cNvPr id="11" name="Picture 10" descr="Background pattern&#10;&#10;Description automatically generated">
            <a:extLst>
              <a:ext uri="{FF2B5EF4-FFF2-40B4-BE49-F238E27FC236}">
                <a16:creationId xmlns:a16="http://schemas.microsoft.com/office/drawing/2014/main" id="{763F4705-5885-9139-7C1E-5E2F720F77D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10813091" y="5882639"/>
            <a:ext cx="1388513" cy="989973"/>
          </a:xfrm>
          <a:prstGeom prst="rect">
            <a:avLst/>
          </a:prstGeom>
        </p:spPr>
      </p:pic>
      <p:sp>
        <p:nvSpPr>
          <p:cNvPr id="12" name="Marcador de número de diapositiva 5">
            <a:extLst>
              <a:ext uri="{FF2B5EF4-FFF2-40B4-BE49-F238E27FC236}">
                <a16:creationId xmlns:a16="http://schemas.microsoft.com/office/drawing/2014/main" id="{9314451A-6C5B-D5A1-9DD9-55A1359B67FC}"/>
              </a:ext>
            </a:extLst>
          </p:cNvPr>
          <p:cNvSpPr txBox="1">
            <a:spLocks/>
          </p:cNvSpPr>
          <p:nvPr userDrawn="1"/>
        </p:nvSpPr>
        <p:spPr>
          <a:xfrm>
            <a:off x="11221092" y="6437871"/>
            <a:ext cx="828094" cy="324138"/>
          </a:xfrm>
          <a:prstGeom prst="rect">
            <a:avLst/>
          </a:prstGeom>
        </p:spPr>
        <p:txBody>
          <a:bodyPr lIns="104891" tIns="52445" rIns="104891" bIns="52445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F439014-E629-42E3-A58B-61A0F1C8CFFE}" type="slidenum">
              <a:rPr lang="en-US" sz="1200" b="0" smtClean="0">
                <a:solidFill>
                  <a:srgbClr val="00001E"/>
                </a:solidFill>
                <a:latin typeface="Frutiger 45 Light" pitchFamily="2" charset="0"/>
                <a:cs typeface="Calibri" panose="020F0502020204030204" pitchFamily="34" charset="0"/>
              </a:rPr>
              <a:pPr algn="r"/>
              <a:t>‹#›</a:t>
            </a:fld>
            <a:endParaRPr lang="en-US" sz="1200" b="0" dirty="0">
              <a:solidFill>
                <a:srgbClr val="00001E"/>
              </a:solidFill>
              <a:latin typeface="Frutiger 45 Light" pitchFamily="2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55515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64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5CDA55D2-453F-4E7D-AF30-1542DF26EE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8972" y="457200"/>
            <a:ext cx="4293054" cy="1600200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81469E54-C50A-4DB5-B104-9B99883176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8972" y="2057400"/>
            <a:ext cx="4293054" cy="3811588"/>
          </a:xfrm>
        </p:spPr>
        <p:txBody>
          <a:bodyPr/>
          <a:lstStyle>
            <a:lvl1pPr marL="0" indent="0">
              <a:buNone/>
              <a:defRPr sz="1600">
                <a:solidFill>
                  <a:srgbClr val="595959"/>
                </a:solidFill>
                <a:latin typeface="Frutiger 45 Light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AE8A5CEA-5F4E-4109-ACB7-808AE0D5B170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5306569" y="2055542"/>
            <a:ext cx="5181599" cy="3813445"/>
          </a:xfrm>
        </p:spPr>
        <p:txBody>
          <a:bodyPr/>
          <a:lstStyle>
            <a:lvl1pPr>
              <a:defRPr lang="en-US" sz="2400" b="1" dirty="0" smtClean="0">
                <a:solidFill>
                  <a:srgbClr val="595959"/>
                </a:solidFill>
                <a:latin typeface="Frutiger 45 Light" pitchFamily="2" charset="0"/>
              </a:defRPr>
            </a:lvl1pPr>
            <a:lvl2pPr>
              <a:defRPr sz="2000">
                <a:solidFill>
                  <a:srgbClr val="595959"/>
                </a:solidFill>
                <a:latin typeface="Frutiger 45 Light" pitchFamily="2" charset="0"/>
              </a:defRPr>
            </a:lvl2pPr>
            <a:lvl3pPr>
              <a:defRPr sz="1800">
                <a:solidFill>
                  <a:srgbClr val="595959"/>
                </a:solidFill>
                <a:latin typeface="Frutiger 45 Light" pitchFamily="2" charset="0"/>
              </a:defRPr>
            </a:lvl3pPr>
            <a:lvl4pPr>
              <a:defRPr sz="1400">
                <a:solidFill>
                  <a:srgbClr val="595959"/>
                </a:solidFill>
                <a:latin typeface="Frutiger 45 Light" pitchFamily="2" charset="0"/>
              </a:defRPr>
            </a:lvl4pPr>
            <a:lvl5pPr>
              <a:defRPr sz="1400">
                <a:solidFill>
                  <a:srgbClr val="595959"/>
                </a:solidFill>
                <a:latin typeface="Frutiger 45 Light" pitchFamily="2" charset="0"/>
              </a:defRPr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  <a:p>
            <a:pPr marL="0" lvl="1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Second level</a:t>
            </a:r>
          </a:p>
          <a:p>
            <a:pPr marL="0" lvl="2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Third level</a:t>
            </a:r>
          </a:p>
          <a:p>
            <a:pPr marL="0" lvl="3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Fourth level</a:t>
            </a:r>
          </a:p>
          <a:p>
            <a:pPr marL="0" lvl="4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Fifth level</a:t>
            </a:r>
            <a:endParaRPr lang="en-US" dirty="0"/>
          </a:p>
        </p:txBody>
      </p:sp>
      <p:pic>
        <p:nvPicPr>
          <p:cNvPr id="9" name="Picture 8" descr="Background pattern&#10;&#10;Description automatically generated">
            <a:extLst>
              <a:ext uri="{FF2B5EF4-FFF2-40B4-BE49-F238E27FC236}">
                <a16:creationId xmlns:a16="http://schemas.microsoft.com/office/drawing/2014/main" id="{7916254B-43C5-9C82-7FF6-BC881992F73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10813091" y="5882639"/>
            <a:ext cx="1388513" cy="989973"/>
          </a:xfrm>
          <a:prstGeom prst="rect">
            <a:avLst/>
          </a:prstGeom>
        </p:spPr>
      </p:pic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32BAEA48-FEC5-7F2A-1732-CFFB91C99D61}"/>
              </a:ext>
            </a:extLst>
          </p:cNvPr>
          <p:cNvSpPr txBox="1">
            <a:spLocks/>
          </p:cNvSpPr>
          <p:nvPr userDrawn="1"/>
        </p:nvSpPr>
        <p:spPr>
          <a:xfrm>
            <a:off x="11221092" y="6437871"/>
            <a:ext cx="828094" cy="324138"/>
          </a:xfrm>
          <a:prstGeom prst="rect">
            <a:avLst/>
          </a:prstGeom>
        </p:spPr>
        <p:txBody>
          <a:bodyPr lIns="104891" tIns="52445" rIns="104891" bIns="52445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F439014-E629-42E3-A58B-61A0F1C8CFFE}" type="slidenum">
              <a:rPr lang="en-US" sz="1200" b="0" smtClean="0">
                <a:solidFill>
                  <a:srgbClr val="00001E"/>
                </a:solidFill>
                <a:latin typeface="Frutiger 45 Light" pitchFamily="2" charset="0"/>
                <a:cs typeface="Calibri" panose="020F0502020204030204" pitchFamily="34" charset="0"/>
              </a:rPr>
              <a:pPr algn="r"/>
              <a:t>‹#›</a:t>
            </a:fld>
            <a:endParaRPr lang="en-US" sz="1200" b="0" dirty="0">
              <a:solidFill>
                <a:srgbClr val="00001E"/>
              </a:solidFill>
              <a:latin typeface="Frutiger 45 Light" pitchFamily="2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07957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AB7F8B00-12EF-4751-A034-D733BB7D51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8972" y="457200"/>
            <a:ext cx="4293054" cy="1600200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A5B0E1B6-489C-4643-9FE5-9D4A936A7B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0"/>
            <a:ext cx="7008812" cy="6857999"/>
          </a:xfrm>
        </p:spPr>
        <p:txBody>
          <a:bodyPr/>
          <a:lstStyle>
            <a:lvl1pPr marL="0" indent="0">
              <a:buNone/>
              <a:defRPr sz="3200">
                <a:solidFill>
                  <a:srgbClr val="595959"/>
                </a:solidFill>
                <a:latin typeface="Frutiger 45 Light" pitchFamily="2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A70DA0CC-8337-43E8-B632-01AC9639E7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8972" y="2057400"/>
            <a:ext cx="4293054" cy="3811588"/>
          </a:xfrm>
        </p:spPr>
        <p:txBody>
          <a:bodyPr/>
          <a:lstStyle>
            <a:lvl1pPr marL="0" indent="0">
              <a:buNone/>
              <a:defRPr sz="1600">
                <a:solidFill>
                  <a:srgbClr val="595959"/>
                </a:solidFill>
                <a:latin typeface="Frutiger 45 Light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" name="Picture 1" descr="Background pattern&#10;&#10;Description automatically generated">
            <a:extLst>
              <a:ext uri="{FF2B5EF4-FFF2-40B4-BE49-F238E27FC236}">
                <a16:creationId xmlns:a16="http://schemas.microsoft.com/office/drawing/2014/main" id="{B70154DA-9096-81F4-B455-E3499A1BD4D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10813091" y="5882639"/>
            <a:ext cx="1388513" cy="989973"/>
          </a:xfrm>
          <a:prstGeom prst="rect">
            <a:avLst/>
          </a:prstGeom>
        </p:spPr>
      </p:pic>
      <p:sp>
        <p:nvSpPr>
          <p:cNvPr id="3" name="Marcador de número de diapositiva 5">
            <a:extLst>
              <a:ext uri="{FF2B5EF4-FFF2-40B4-BE49-F238E27FC236}">
                <a16:creationId xmlns:a16="http://schemas.microsoft.com/office/drawing/2014/main" id="{3D440A3F-6F49-A806-CA5F-776CACB1FDFB}"/>
              </a:ext>
            </a:extLst>
          </p:cNvPr>
          <p:cNvSpPr txBox="1">
            <a:spLocks/>
          </p:cNvSpPr>
          <p:nvPr userDrawn="1"/>
        </p:nvSpPr>
        <p:spPr>
          <a:xfrm>
            <a:off x="11221092" y="6437871"/>
            <a:ext cx="828094" cy="324138"/>
          </a:xfrm>
          <a:prstGeom prst="rect">
            <a:avLst/>
          </a:prstGeom>
        </p:spPr>
        <p:txBody>
          <a:bodyPr lIns="104891" tIns="52445" rIns="104891" bIns="52445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F439014-E629-42E3-A58B-61A0F1C8CFFE}" type="slidenum">
              <a:rPr lang="en-US" sz="1200" b="0" smtClean="0">
                <a:solidFill>
                  <a:srgbClr val="00001E"/>
                </a:solidFill>
                <a:latin typeface="Frutiger 45 Light" pitchFamily="2" charset="0"/>
                <a:cs typeface="Calibri" panose="020F0502020204030204" pitchFamily="34" charset="0"/>
              </a:rPr>
              <a:pPr algn="r"/>
              <a:t>‹#›</a:t>
            </a:fld>
            <a:endParaRPr lang="en-US" sz="1200" b="0" dirty="0">
              <a:solidFill>
                <a:srgbClr val="00001E"/>
              </a:solidFill>
              <a:latin typeface="Frutiger 45 Light" pitchFamily="2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28859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3399" y="469835"/>
            <a:ext cx="11125200" cy="43497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pic>
        <p:nvPicPr>
          <p:cNvPr id="2" name="Picture 1" descr="Background pattern&#10;&#10;Description automatically generated">
            <a:extLst>
              <a:ext uri="{FF2B5EF4-FFF2-40B4-BE49-F238E27FC236}">
                <a16:creationId xmlns:a16="http://schemas.microsoft.com/office/drawing/2014/main" id="{1379A390-F031-B6A4-9699-D7473C2034A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10813091" y="5882639"/>
            <a:ext cx="1388513" cy="989973"/>
          </a:xfrm>
          <a:prstGeom prst="rect">
            <a:avLst/>
          </a:prstGeom>
        </p:spPr>
      </p:pic>
      <p:sp>
        <p:nvSpPr>
          <p:cNvPr id="4" name="Marcador de número de diapositiva 5">
            <a:extLst>
              <a:ext uri="{FF2B5EF4-FFF2-40B4-BE49-F238E27FC236}">
                <a16:creationId xmlns:a16="http://schemas.microsoft.com/office/drawing/2014/main" id="{BA5E112F-F5E3-1239-9356-9397EE4D0862}"/>
              </a:ext>
            </a:extLst>
          </p:cNvPr>
          <p:cNvSpPr txBox="1">
            <a:spLocks/>
          </p:cNvSpPr>
          <p:nvPr userDrawn="1"/>
        </p:nvSpPr>
        <p:spPr>
          <a:xfrm>
            <a:off x="11221092" y="6437871"/>
            <a:ext cx="828094" cy="324138"/>
          </a:xfrm>
          <a:prstGeom prst="rect">
            <a:avLst/>
          </a:prstGeom>
        </p:spPr>
        <p:txBody>
          <a:bodyPr lIns="104891" tIns="52445" rIns="104891" bIns="52445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F439014-E629-42E3-A58B-61A0F1C8CFFE}" type="slidenum">
              <a:rPr lang="en-US" sz="1200" b="0" smtClean="0">
                <a:solidFill>
                  <a:srgbClr val="00001E"/>
                </a:solidFill>
                <a:latin typeface="Frutiger 45 Light" pitchFamily="2" charset="0"/>
                <a:cs typeface="Calibri" panose="020F0502020204030204" pitchFamily="34" charset="0"/>
              </a:rPr>
              <a:pPr algn="r"/>
              <a:t>‹#›</a:t>
            </a:fld>
            <a:endParaRPr lang="en-US" sz="1200" b="0" dirty="0">
              <a:solidFill>
                <a:srgbClr val="00001E"/>
              </a:solidFill>
              <a:latin typeface="Frutiger 45 Light" pitchFamily="2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97269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63948A3-32FA-5533-16DA-635E26595B61}"/>
              </a:ext>
            </a:extLst>
          </p:cNvPr>
          <p:cNvSpPr/>
          <p:nvPr userDrawn="1"/>
        </p:nvSpPr>
        <p:spPr>
          <a:xfrm flipV="1">
            <a:off x="3351682" y="1567022"/>
            <a:ext cx="2466609" cy="3840464"/>
          </a:xfrm>
          <a:prstGeom prst="rect">
            <a:avLst/>
          </a:prstGeom>
          <a:gradFill flip="none" rotWithShape="1">
            <a:gsLst>
              <a:gs pos="0">
                <a:srgbClr val="F2F7FA"/>
              </a:gs>
              <a:gs pos="100000">
                <a:srgbClr val="F9F0E0"/>
              </a:gs>
            </a:gsLst>
            <a:lin ang="2700000" scaled="1"/>
            <a:tileRect/>
          </a:gra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800" b="0" i="0" u="none" strike="noStrike" kern="0" cap="none" spc="0" normalizeH="0" baseline="0" noProof="0">
              <a:ln>
                <a:noFill/>
              </a:ln>
              <a:solidFill>
                <a:srgbClr val="003865"/>
              </a:solidFill>
              <a:effectLst/>
              <a:uLnTx/>
              <a:uFillTx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447ABFF-7AC4-BAD1-41A4-E1FE5B8092EF}"/>
              </a:ext>
            </a:extLst>
          </p:cNvPr>
          <p:cNvSpPr/>
          <p:nvPr userDrawn="1"/>
        </p:nvSpPr>
        <p:spPr>
          <a:xfrm flipV="1">
            <a:off x="533272" y="1567022"/>
            <a:ext cx="2466609" cy="3840464"/>
          </a:xfrm>
          <a:prstGeom prst="rect">
            <a:avLst/>
          </a:prstGeom>
          <a:gradFill flip="none" rotWithShape="1">
            <a:gsLst>
              <a:gs pos="0">
                <a:srgbClr val="F2F7FA"/>
              </a:gs>
              <a:gs pos="100000">
                <a:srgbClr val="F9F0E0"/>
              </a:gs>
            </a:gsLst>
            <a:lin ang="2700000" scaled="1"/>
            <a:tileRect/>
          </a:gra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800" b="0" i="0" u="none" strike="noStrike" kern="0" cap="none" spc="0" normalizeH="0" baseline="0" noProof="0">
              <a:ln>
                <a:noFill/>
              </a:ln>
              <a:solidFill>
                <a:srgbClr val="003865"/>
              </a:solidFill>
              <a:effectLst/>
              <a:uLnTx/>
              <a:uFillTx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B963FEE-DF85-5D77-1E01-49124A2CEAF5}"/>
              </a:ext>
            </a:extLst>
          </p:cNvPr>
          <p:cNvSpPr/>
          <p:nvPr userDrawn="1"/>
        </p:nvSpPr>
        <p:spPr>
          <a:xfrm flipV="1">
            <a:off x="6170092" y="1567022"/>
            <a:ext cx="2466609" cy="3840464"/>
          </a:xfrm>
          <a:prstGeom prst="rect">
            <a:avLst/>
          </a:prstGeom>
          <a:gradFill flip="none" rotWithShape="1">
            <a:gsLst>
              <a:gs pos="0">
                <a:srgbClr val="F2F7FA"/>
              </a:gs>
              <a:gs pos="100000">
                <a:srgbClr val="F9F0E0"/>
              </a:gs>
            </a:gsLst>
            <a:lin ang="2700000" scaled="1"/>
            <a:tileRect/>
          </a:gra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800" b="0" i="0" u="none" strike="noStrike" kern="0" cap="none" spc="0" normalizeH="0" baseline="0" noProof="0">
              <a:ln>
                <a:noFill/>
              </a:ln>
              <a:solidFill>
                <a:srgbClr val="003865"/>
              </a:solidFill>
              <a:effectLst/>
              <a:uLnTx/>
              <a:uFillTx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5653896-D7CD-93EE-8417-E2C2E847A910}"/>
              </a:ext>
            </a:extLst>
          </p:cNvPr>
          <p:cNvSpPr/>
          <p:nvPr userDrawn="1"/>
        </p:nvSpPr>
        <p:spPr>
          <a:xfrm flipV="1">
            <a:off x="8988503" y="1567022"/>
            <a:ext cx="2466609" cy="3840464"/>
          </a:xfrm>
          <a:prstGeom prst="rect">
            <a:avLst/>
          </a:prstGeom>
          <a:gradFill flip="none" rotWithShape="1">
            <a:gsLst>
              <a:gs pos="0">
                <a:srgbClr val="F2F7FA"/>
              </a:gs>
              <a:gs pos="100000">
                <a:srgbClr val="F9F0E0"/>
              </a:gs>
            </a:gsLst>
            <a:lin ang="2700000" scaled="1"/>
            <a:tileRect/>
          </a:gra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800" b="0" i="0" u="none" strike="noStrike" kern="0" cap="none" spc="0" normalizeH="0" baseline="0" noProof="0">
              <a:ln>
                <a:noFill/>
              </a:ln>
              <a:solidFill>
                <a:srgbClr val="003865"/>
              </a:solidFill>
              <a:effectLst/>
              <a:uLnTx/>
              <a:uFillTx/>
            </a:endParaRPr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12ACBE6E-5DAE-5B6C-1E92-11C9C662339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361829" y="1964039"/>
            <a:ext cx="809494" cy="809495"/>
          </a:xfrm>
          <a:prstGeom prst="ellipse">
            <a:avLst/>
          </a:prstGeom>
          <a:ln>
            <a:noFill/>
          </a:ln>
        </p:spPr>
        <p:txBody>
          <a:bodyPr anchor="ctr">
            <a:noAutofit/>
          </a:bodyPr>
          <a:lstStyle>
            <a:lvl1pPr marL="0" indent="0" algn="ctr">
              <a:buFontTx/>
              <a:buNone/>
              <a:defRPr sz="1800"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27" name="Picture Placeholder 25">
            <a:extLst>
              <a:ext uri="{FF2B5EF4-FFF2-40B4-BE49-F238E27FC236}">
                <a16:creationId xmlns:a16="http://schemas.microsoft.com/office/drawing/2014/main" id="{15DCB66B-4DA5-68F3-EAAE-A7B0A4F3B1D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180239" y="1964039"/>
            <a:ext cx="809494" cy="809495"/>
          </a:xfrm>
          <a:prstGeom prst="ellipse">
            <a:avLst/>
          </a:prstGeom>
          <a:ln>
            <a:noFill/>
          </a:ln>
        </p:spPr>
        <p:txBody>
          <a:bodyPr anchor="ctr">
            <a:noAutofit/>
          </a:bodyPr>
          <a:lstStyle>
            <a:lvl1pPr marL="0" indent="0" algn="ctr">
              <a:buFontTx/>
              <a:buNone/>
              <a:defRPr sz="1800"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28" name="Picture Placeholder 25">
            <a:extLst>
              <a:ext uri="{FF2B5EF4-FFF2-40B4-BE49-F238E27FC236}">
                <a16:creationId xmlns:a16="http://schemas.microsoft.com/office/drawing/2014/main" id="{416EDE06-9533-67FB-BF24-DF6C76E3E628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998649" y="1964039"/>
            <a:ext cx="809494" cy="809495"/>
          </a:xfrm>
          <a:prstGeom prst="ellipse">
            <a:avLst/>
          </a:prstGeom>
          <a:ln>
            <a:noFill/>
          </a:ln>
        </p:spPr>
        <p:txBody>
          <a:bodyPr anchor="ctr">
            <a:noAutofit/>
          </a:bodyPr>
          <a:lstStyle>
            <a:lvl1pPr marL="0" indent="0" algn="ctr">
              <a:buFontTx/>
              <a:buNone/>
              <a:defRPr sz="1800"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29" name="Picture Placeholder 25">
            <a:extLst>
              <a:ext uri="{FF2B5EF4-FFF2-40B4-BE49-F238E27FC236}">
                <a16:creationId xmlns:a16="http://schemas.microsoft.com/office/drawing/2014/main" id="{690D0B6E-A10C-4C7A-3858-68AF26206F2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9817060" y="1964039"/>
            <a:ext cx="809494" cy="809495"/>
          </a:xfrm>
          <a:prstGeom prst="ellipse">
            <a:avLst/>
          </a:prstGeom>
          <a:ln>
            <a:noFill/>
          </a:ln>
        </p:spPr>
        <p:txBody>
          <a:bodyPr anchor="ctr">
            <a:noAutofit/>
          </a:bodyPr>
          <a:lstStyle>
            <a:lvl1pPr marL="0" indent="0" algn="ctr">
              <a:buFontTx/>
              <a:buNone/>
              <a:defRPr sz="1800"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30" name="Text Placeholder 15">
            <a:extLst>
              <a:ext uri="{FF2B5EF4-FFF2-40B4-BE49-F238E27FC236}">
                <a16:creationId xmlns:a16="http://schemas.microsoft.com/office/drawing/2014/main" id="{7A05C422-6C2D-D524-06F6-FEBC6355E17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4234" y="3968221"/>
            <a:ext cx="2264685" cy="1173194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  <a:latin typeface="Frutiger 45 Light" pitchFamily="2" charset="0"/>
                <a:cs typeface="Calibri" panose="020F0502020204030204" pitchFamily="3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15">
            <a:extLst>
              <a:ext uri="{FF2B5EF4-FFF2-40B4-BE49-F238E27FC236}">
                <a16:creationId xmlns:a16="http://schemas.microsoft.com/office/drawing/2014/main" id="{3B1E9743-4863-A723-9C60-5FC5D3DBEA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452644" y="3968221"/>
            <a:ext cx="2264685" cy="1173194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  <a:latin typeface="Frutiger 45 Light" pitchFamily="2" charset="0"/>
                <a:cs typeface="Calibri" panose="020F0502020204030204" pitchFamily="3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15">
            <a:extLst>
              <a:ext uri="{FF2B5EF4-FFF2-40B4-BE49-F238E27FC236}">
                <a16:creationId xmlns:a16="http://schemas.microsoft.com/office/drawing/2014/main" id="{CD805F55-EF87-C927-683C-402E3B4349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71054" y="3968221"/>
            <a:ext cx="2264685" cy="1173194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  <a:latin typeface="Frutiger 45 Light" pitchFamily="2" charset="0"/>
                <a:cs typeface="Calibri" panose="020F0502020204030204" pitchFamily="3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15">
            <a:extLst>
              <a:ext uri="{FF2B5EF4-FFF2-40B4-BE49-F238E27FC236}">
                <a16:creationId xmlns:a16="http://schemas.microsoft.com/office/drawing/2014/main" id="{9318E5AB-5357-32EC-1C6F-7497D78CAEE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089465" y="3968221"/>
            <a:ext cx="2264685" cy="1173194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  <a:latin typeface="Frutiger 45 Light" pitchFamily="2" charset="0"/>
                <a:cs typeface="Calibri" panose="020F0502020204030204" pitchFamily="3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A48394A-EAF3-AA74-A443-B84109539DEE}"/>
              </a:ext>
            </a:extLst>
          </p:cNvPr>
          <p:cNvSpPr/>
          <p:nvPr userDrawn="1"/>
        </p:nvSpPr>
        <p:spPr>
          <a:xfrm>
            <a:off x="1232786" y="2984386"/>
            <a:ext cx="1067580" cy="37784"/>
          </a:xfrm>
          <a:prstGeom prst="rect">
            <a:avLst/>
          </a:prstGeom>
          <a:solidFill>
            <a:srgbClr val="0070C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1215128-DC01-82B5-FF95-CD17B9ACB12C}"/>
              </a:ext>
            </a:extLst>
          </p:cNvPr>
          <p:cNvSpPr/>
          <p:nvPr userDrawn="1"/>
        </p:nvSpPr>
        <p:spPr>
          <a:xfrm>
            <a:off x="4051196" y="2984386"/>
            <a:ext cx="1067580" cy="37784"/>
          </a:xfrm>
          <a:prstGeom prst="rect">
            <a:avLst/>
          </a:prstGeom>
          <a:solidFill>
            <a:srgbClr val="0070C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0E91DFC-E616-7C47-DF0B-7E06270BF99C}"/>
              </a:ext>
            </a:extLst>
          </p:cNvPr>
          <p:cNvSpPr/>
          <p:nvPr userDrawn="1"/>
        </p:nvSpPr>
        <p:spPr>
          <a:xfrm>
            <a:off x="6869606" y="2984386"/>
            <a:ext cx="1067580" cy="37784"/>
          </a:xfrm>
          <a:prstGeom prst="rect">
            <a:avLst/>
          </a:prstGeom>
          <a:solidFill>
            <a:srgbClr val="0070C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99A168DF-9E56-0C0D-7485-F28F78F2D2C0}"/>
              </a:ext>
            </a:extLst>
          </p:cNvPr>
          <p:cNvSpPr/>
          <p:nvPr userDrawn="1"/>
        </p:nvSpPr>
        <p:spPr>
          <a:xfrm>
            <a:off x="9688017" y="2984386"/>
            <a:ext cx="1067580" cy="37784"/>
          </a:xfrm>
          <a:prstGeom prst="rect">
            <a:avLst/>
          </a:prstGeom>
          <a:solidFill>
            <a:srgbClr val="0070C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FB3665BC-C3D4-CE79-80F3-7F34FA3ECDE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34234" y="3298206"/>
            <a:ext cx="2264685" cy="425568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  <a:latin typeface="Frutiger 45 bold"/>
                <a:cs typeface="Calibri" panose="020F0502020204030204" pitchFamily="3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E06ACF8C-308D-25A7-590F-09AAE35138E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452644" y="3298206"/>
            <a:ext cx="2264685" cy="331936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  <a:latin typeface="Frutiger 45 Light" pitchFamily="2" charset="0"/>
                <a:cs typeface="Calibri" panose="020F0502020204030204" pitchFamily="3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403A7C49-0A7D-6B23-80B7-E91B87827A9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271054" y="3298206"/>
            <a:ext cx="2264685" cy="33027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  <a:latin typeface="Frutiger 45 Light" pitchFamily="2" charset="0"/>
                <a:cs typeface="Calibri" panose="020F0502020204030204" pitchFamily="3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41" name="Text Placeholder 15">
            <a:extLst>
              <a:ext uri="{FF2B5EF4-FFF2-40B4-BE49-F238E27FC236}">
                <a16:creationId xmlns:a16="http://schemas.microsoft.com/office/drawing/2014/main" id="{9F247137-B811-1C0C-3ECF-8920F2723A0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089465" y="3298206"/>
            <a:ext cx="2264685" cy="33027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  <a:latin typeface="Frutiger 45 Light" pitchFamily="2" charset="0"/>
                <a:cs typeface="Calibri" panose="020F0502020204030204" pitchFamily="3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EE57E6F6-95E1-BB44-5A8A-95D03F02DCE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3399" y="469835"/>
            <a:ext cx="11125200" cy="43497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pic>
        <p:nvPicPr>
          <p:cNvPr id="2" name="Picture 1" descr="Background pattern&#10;&#10;Description automatically generated">
            <a:extLst>
              <a:ext uri="{FF2B5EF4-FFF2-40B4-BE49-F238E27FC236}">
                <a16:creationId xmlns:a16="http://schemas.microsoft.com/office/drawing/2014/main" id="{6B00E7C7-88E6-A7F9-7356-C605C6E3806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10813091" y="5882639"/>
            <a:ext cx="1388513" cy="989973"/>
          </a:xfrm>
          <a:prstGeom prst="rect">
            <a:avLst/>
          </a:prstGeom>
        </p:spPr>
      </p:pic>
      <p:sp>
        <p:nvSpPr>
          <p:cNvPr id="12" name="Marcador de número de diapositiva 5">
            <a:extLst>
              <a:ext uri="{FF2B5EF4-FFF2-40B4-BE49-F238E27FC236}">
                <a16:creationId xmlns:a16="http://schemas.microsoft.com/office/drawing/2014/main" id="{3BA9357F-11E9-B623-DB32-AA16F0336D11}"/>
              </a:ext>
            </a:extLst>
          </p:cNvPr>
          <p:cNvSpPr txBox="1">
            <a:spLocks/>
          </p:cNvSpPr>
          <p:nvPr userDrawn="1"/>
        </p:nvSpPr>
        <p:spPr>
          <a:xfrm>
            <a:off x="11221092" y="6437871"/>
            <a:ext cx="828094" cy="324138"/>
          </a:xfrm>
          <a:prstGeom prst="rect">
            <a:avLst/>
          </a:prstGeom>
        </p:spPr>
        <p:txBody>
          <a:bodyPr lIns="104891" tIns="52445" rIns="104891" bIns="52445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F439014-E629-42E3-A58B-61A0F1C8CFFE}" type="slidenum">
              <a:rPr lang="en-US" sz="1200" b="0" smtClean="0">
                <a:solidFill>
                  <a:srgbClr val="00001E"/>
                </a:solidFill>
                <a:latin typeface="Frutiger 45 Light" pitchFamily="2" charset="0"/>
                <a:cs typeface="Calibri" panose="020F0502020204030204" pitchFamily="34" charset="0"/>
              </a:rPr>
              <a:pPr algn="r"/>
              <a:t>‹#›</a:t>
            </a:fld>
            <a:endParaRPr lang="en-US" sz="1200" b="0" dirty="0">
              <a:solidFill>
                <a:srgbClr val="00001E"/>
              </a:solidFill>
              <a:latin typeface="Frutiger 45 Light" pitchFamily="2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15634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64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picture containing blur&#10;&#10;Description automatically generated">
            <a:extLst>
              <a:ext uri="{FF2B5EF4-FFF2-40B4-BE49-F238E27FC236}">
                <a16:creationId xmlns:a16="http://schemas.microsoft.com/office/drawing/2014/main" id="{EF438032-1F77-BBEA-C7C7-8ED95C652F4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12191999" cy="685800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E6EEB829-6CD0-4395-A39D-7E253A77EA0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882435" y="2765913"/>
            <a:ext cx="3601189" cy="1326174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44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Thank you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5A4C7068-0752-FBFE-5D91-4C5EF463A7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882435" y="4233333"/>
            <a:ext cx="4293054" cy="664810"/>
          </a:xfrm>
        </p:spPr>
        <p:txBody>
          <a:bodyPr/>
          <a:lstStyle>
            <a:lvl1pPr marL="0" indent="0">
              <a:buNone/>
              <a:defRPr sz="1600">
                <a:solidFill>
                  <a:srgbClr val="595959"/>
                </a:solidFill>
                <a:latin typeface="Frutiger 45 Light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0FA6A43-0AD4-BED3-13C7-0AF5B9BB3FF3}"/>
              </a:ext>
            </a:extLst>
          </p:cNvPr>
          <p:cNvSpPr txBox="1"/>
          <p:nvPr userDrawn="1"/>
        </p:nvSpPr>
        <p:spPr>
          <a:xfrm>
            <a:off x="3048000" y="6423303"/>
            <a:ext cx="6096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b="0" i="0" spc="50" baseline="0" dirty="0" err="1">
                <a:solidFill>
                  <a:srgbClr val="595959"/>
                </a:solidFill>
                <a:effectLst/>
                <a:latin typeface="Frutiger 45 Light" pitchFamily="2" charset="0"/>
              </a:rPr>
              <a:t>LTIMindtree</a:t>
            </a:r>
            <a:r>
              <a:rPr lang="en-US" sz="1000" b="0" i="0" spc="50" baseline="0" dirty="0">
                <a:solidFill>
                  <a:srgbClr val="595959"/>
                </a:solidFill>
                <a:effectLst/>
                <a:latin typeface="Frutiger 45 Light" pitchFamily="2" charset="0"/>
              </a:rPr>
              <a:t> Limited is a subsidiary of Larsen &amp; Toubro Limited</a:t>
            </a:r>
            <a:endParaRPr lang="en-US" sz="1000" b="0" kern="1200" spc="50" baseline="0" dirty="0">
              <a:solidFill>
                <a:srgbClr val="595959"/>
              </a:solidFill>
              <a:latin typeface="Frutiger 45 Light" pitchFamily="2" charset="0"/>
              <a:ea typeface="+mn-ea"/>
              <a:cs typeface="+mn-c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8C452BF-B975-E66F-DD59-26D7F104617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341" y="6373111"/>
            <a:ext cx="1369134" cy="388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03668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03685D-D505-42E6-B2A3-1B26BC7932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86" y="365125"/>
            <a:ext cx="1088571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20300D-8B9D-444F-97B8-8F7D7E3A37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8086" y="1825625"/>
            <a:ext cx="10885714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DEDB723-1905-4E83-9D47-D0B5CFAA7945}"/>
              </a:ext>
            </a:extLst>
          </p:cNvPr>
          <p:cNvSpPr txBox="1"/>
          <p:nvPr userDrawn="1"/>
        </p:nvSpPr>
        <p:spPr>
          <a:xfrm>
            <a:off x="3048000" y="6425185"/>
            <a:ext cx="6096000" cy="248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000" dirty="0">
                <a:solidFill>
                  <a:srgbClr val="97A0A4"/>
                </a:solidFill>
                <a:effectLst/>
                <a:latin typeface="Frutiger LT Pro 45 Light" panose="020B0403030504020204" pitchFamily="34" charset="77"/>
                <a:ea typeface="Frutiger LT Pro 45 Light" panose="020B0403030504020204" pitchFamily="34" charset="77"/>
                <a:cs typeface="Calibri" panose="020F0502020204030204" pitchFamily="34" charset="0"/>
              </a:rPr>
              <a:t>©</a:t>
            </a:r>
            <a:r>
              <a:rPr lang="en-US" sz="1000" dirty="0" err="1">
                <a:solidFill>
                  <a:srgbClr val="97A0A4"/>
                </a:solidFill>
                <a:effectLst/>
                <a:latin typeface="Frutiger LT Pro 45 Light" panose="020B0403030504020204" pitchFamily="34" charset="77"/>
                <a:ea typeface="Frutiger LT Pro 45 Light" panose="020B0403030504020204" pitchFamily="34" charset="77"/>
                <a:cs typeface="Calibri" panose="020F0502020204030204" pitchFamily="34" charset="0"/>
              </a:rPr>
              <a:t>LTIMindtree</a:t>
            </a:r>
            <a:r>
              <a:rPr lang="en-US" sz="1000" dirty="0">
                <a:solidFill>
                  <a:srgbClr val="97A0A4"/>
                </a:solidFill>
                <a:effectLst/>
                <a:latin typeface="Frutiger LT Pro 45 Light" panose="020B0403030504020204" pitchFamily="34" charset="77"/>
                <a:ea typeface="Frutiger LT Pro 45 Light" panose="020B0403030504020204" pitchFamily="34" charset="77"/>
                <a:cs typeface="Calibri" panose="020F0502020204030204" pitchFamily="34" charset="0"/>
              </a:rPr>
              <a:t> | Privileged and Confidential 2022</a:t>
            </a:r>
            <a:endParaRPr lang="en-IN" sz="1000" dirty="0">
              <a:solidFill>
                <a:srgbClr val="595959"/>
              </a:solidFill>
              <a:effectLst/>
              <a:latin typeface="Frutiger LT Pro 45 Light" panose="020B0403030504020204" pitchFamily="34" charset="77"/>
              <a:ea typeface="Frutiger LT Pro 45 Light" panose="020B0403030504020204" pitchFamily="34" charset="77"/>
              <a:cs typeface="Calibri" panose="020F0502020204030204" pitchFamily="34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604E6E1E-7055-8D1B-4C37-9DCF88F2180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" name="Text Box 1073742684">
            <a:extLst>
              <a:ext uri="{FF2B5EF4-FFF2-40B4-BE49-F238E27FC236}">
                <a16:creationId xmlns:a16="http://schemas.microsoft.com/office/drawing/2014/main" id="{CB09C83E-2E41-0B4B-7535-36A14EDE4624}"/>
              </a:ext>
            </a:extLst>
          </p:cNvPr>
          <p:cNvSpPr txBox="1"/>
          <p:nvPr userDrawn="1"/>
        </p:nvSpPr>
        <p:spPr>
          <a:xfrm>
            <a:off x="4620260" y="3278188"/>
            <a:ext cx="2951480" cy="301625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non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endParaRPr lang="en-IN" sz="1000" dirty="0">
              <a:solidFill>
                <a:srgbClr val="595959"/>
              </a:solidFill>
              <a:effectLst/>
              <a:latin typeface="Frutiger LT Pro 45 Light" panose="020B0403030504020204" pitchFamily="34" charset="77"/>
              <a:ea typeface="Frutiger LT Pro 45 Light" panose="020B0403030504020204" pitchFamily="34" charset="77"/>
              <a:cs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90561BA-C7F5-9336-C8B6-9C52C6E480B1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341" y="6373111"/>
            <a:ext cx="1369134" cy="388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72329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2" r:id="rId2"/>
    <p:sldLayoutId id="2147483661" r:id="rId3"/>
    <p:sldLayoutId id="2147483666" r:id="rId4"/>
    <p:sldLayoutId id="2147483665" r:id="rId5"/>
    <p:sldLayoutId id="2147483651" r:id="rId6"/>
    <p:sldLayoutId id="2147483660" r:id="rId7"/>
    <p:sldLayoutId id="2147483652" r:id="rId8"/>
    <p:sldLayoutId id="2147483653" r:id="rId9"/>
    <p:sldLayoutId id="2147483654" r:id="rId10"/>
    <p:sldLayoutId id="2147483658" r:id="rId11"/>
    <p:sldLayoutId id="2147483656" r:id="rId12"/>
    <p:sldLayoutId id="2147483657" r:id="rId13"/>
    <p:sldLayoutId id="2147483664" r:id="rId14"/>
    <p:sldLayoutId id="2147483663" r:id="rId15"/>
    <p:sldLayoutId id="2147483659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9E82882D-F3C1-4C31-B151-9404831365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9891" y="2588510"/>
            <a:ext cx="8937171" cy="1421928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  <a:latin typeface="Frutiger LT Pro 55 Roman" panose="020B0602020204020204"/>
              </a:rPr>
              <a:t>Card Transaction Fraud Monitoring</a:t>
            </a:r>
          </a:p>
        </p:txBody>
      </p:sp>
    </p:spTree>
    <p:extLst>
      <p:ext uri="{BB962C8B-B14F-4D97-AF65-F5344CB8AC3E}">
        <p14:creationId xmlns:p14="http://schemas.microsoft.com/office/powerpoint/2010/main" val="2458377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5E39A79-7633-4C46-28C0-C4C8B853E487}"/>
              </a:ext>
            </a:extLst>
          </p:cNvPr>
          <p:cNvSpPr txBox="1"/>
          <p:nvPr/>
        </p:nvSpPr>
        <p:spPr>
          <a:xfrm>
            <a:off x="247570" y="641220"/>
            <a:ext cx="93176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TEAM MEMBERS</a:t>
            </a:r>
          </a:p>
          <a:p>
            <a:endParaRPr lang="en-US" sz="3600" b="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DD95F59-F83D-4B3A-7C14-A7A1D034F2CA}"/>
              </a:ext>
            </a:extLst>
          </p:cNvPr>
          <p:cNvSpPr/>
          <p:nvPr/>
        </p:nvSpPr>
        <p:spPr>
          <a:xfrm>
            <a:off x="381965" y="1566078"/>
            <a:ext cx="9317620" cy="425948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889386-EBDD-6D30-7907-E647720A664E}"/>
              </a:ext>
            </a:extLst>
          </p:cNvPr>
          <p:cNvSpPr txBox="1"/>
          <p:nvPr/>
        </p:nvSpPr>
        <p:spPr>
          <a:xfrm>
            <a:off x="577448" y="1841549"/>
            <a:ext cx="8657863" cy="32571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lnSpc>
                <a:spcPct val="150000"/>
              </a:lnSpc>
              <a:buAutoNum type="arabicPeriod"/>
            </a:pPr>
            <a:r>
              <a:rPr lang="en-US" sz="2800" b="1" dirty="0" err="1"/>
              <a:t>Siyaram</a:t>
            </a:r>
            <a:r>
              <a:rPr lang="en-US" sz="2800" b="1" dirty="0"/>
              <a:t> Sharma </a:t>
            </a:r>
          </a:p>
          <a:p>
            <a:pPr marL="457200" indent="-457200" algn="just">
              <a:lnSpc>
                <a:spcPct val="150000"/>
              </a:lnSpc>
              <a:buAutoNum type="arabicPeriod"/>
            </a:pPr>
            <a:r>
              <a:rPr lang="en-US" sz="2800" b="1" dirty="0"/>
              <a:t>Abhishek Bapat </a:t>
            </a:r>
          </a:p>
          <a:p>
            <a:pPr marL="457200" indent="-457200" algn="just">
              <a:lnSpc>
                <a:spcPct val="150000"/>
              </a:lnSpc>
              <a:buAutoNum type="arabicPeriod"/>
            </a:pPr>
            <a:r>
              <a:rPr lang="en-US" sz="2800" b="1" dirty="0"/>
              <a:t>Aditya Lad </a:t>
            </a:r>
          </a:p>
          <a:p>
            <a:pPr marL="457200" indent="-457200" algn="just">
              <a:lnSpc>
                <a:spcPct val="150000"/>
              </a:lnSpc>
              <a:buAutoNum type="arabicPeriod"/>
            </a:pPr>
            <a:r>
              <a:rPr lang="en-US" sz="2800" b="1" dirty="0"/>
              <a:t>Satakshi Singh </a:t>
            </a:r>
          </a:p>
          <a:p>
            <a:pPr marL="457200" indent="-457200" algn="just">
              <a:lnSpc>
                <a:spcPct val="150000"/>
              </a:lnSpc>
              <a:buAutoNum type="arabicPeriod"/>
            </a:pPr>
            <a:r>
              <a:rPr lang="en-US" sz="2800" b="1" dirty="0"/>
              <a:t>Shreya </a:t>
            </a:r>
            <a:r>
              <a:rPr lang="en-US" sz="2800" b="1" dirty="0" err="1"/>
              <a:t>Parjane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42220762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FD95DAC-10C9-34C5-B62F-8B2EF4026641}"/>
              </a:ext>
            </a:extLst>
          </p:cNvPr>
          <p:cNvSpPr txBox="1"/>
          <p:nvPr/>
        </p:nvSpPr>
        <p:spPr>
          <a:xfrm>
            <a:off x="393539" y="503365"/>
            <a:ext cx="68797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PROBLEM STATEMENT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C86CB03-F2B1-B435-ACDC-469C960035FB}"/>
              </a:ext>
            </a:extLst>
          </p:cNvPr>
          <p:cNvSpPr/>
          <p:nvPr/>
        </p:nvSpPr>
        <p:spPr>
          <a:xfrm>
            <a:off x="393539" y="1232374"/>
            <a:ext cx="11331616" cy="534622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F129D09-4FEB-A72F-703E-A3DC9C8EBE29}"/>
              </a:ext>
            </a:extLst>
          </p:cNvPr>
          <p:cNvSpPr txBox="1"/>
          <p:nvPr/>
        </p:nvSpPr>
        <p:spPr>
          <a:xfrm>
            <a:off x="466845" y="1344016"/>
            <a:ext cx="11150761" cy="51229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A bank operates across multiple digital and physical payment channels, generating a very high volume of card transactions each day.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Continuous arrival of these transactions into cloud storage creates a fast‑moving environment that demands scalable, modern data processing.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Existing systems lack the capability to handle real‑time ingestion, low‑latency processing, and large‑scale analytics efficiently.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Fraud analysts are unable to access timely, trustworthy, analytics‑ready data, limiting effective fraud detection and operational response.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The bank requires a unified Databricks Lakehouse platform that supports scalable ingestion, strong governance, streamlined pipelines, and delivers curated datasets for advanced fraud analytics and BI reporting.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2715040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F40F8DD-2B33-02E3-C100-AC2E90CDC928}"/>
              </a:ext>
            </a:extLst>
          </p:cNvPr>
          <p:cNvSpPr txBox="1"/>
          <p:nvPr/>
        </p:nvSpPr>
        <p:spPr>
          <a:xfrm>
            <a:off x="385823" y="407085"/>
            <a:ext cx="87157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SOLUTION STRATEGY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FBECFE3-700D-1DFD-7794-404CCD42A2B5}"/>
              </a:ext>
            </a:extLst>
          </p:cNvPr>
          <p:cNvSpPr/>
          <p:nvPr/>
        </p:nvSpPr>
        <p:spPr>
          <a:xfrm>
            <a:off x="385823" y="1003300"/>
            <a:ext cx="11420354" cy="536862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2EC3580-25D1-2400-1FA6-2A371321AF2E}"/>
              </a:ext>
            </a:extLst>
          </p:cNvPr>
          <p:cNvSpPr txBox="1"/>
          <p:nvPr/>
        </p:nvSpPr>
        <p:spPr>
          <a:xfrm>
            <a:off x="385823" y="930305"/>
            <a:ext cx="11420354" cy="46703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en-US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/>
              <a:t>Adopt the Databricks Lakehouse architecture to unify near–real-time ingestion, scalable processing, governance, and analytics in a single platform.</a:t>
            </a:r>
          </a:p>
          <a:p>
            <a:pPr algn="just"/>
            <a:endParaRPr lang="en-US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/>
              <a:t>Ingest streaming transaction files using Auto Loader with Structured Streaming, ensuring continuous, fault‑tolerant, and efficient data flow from cloud storage.</a:t>
            </a:r>
          </a:p>
          <a:p>
            <a:pPr algn="just"/>
            <a:endParaRPr lang="en-US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/>
              <a:t>Implement a Bronze–Silver–Gold layered design to separate raw ingestion, refined transformation, and analytics‑ready datasets for fraud monitoring.</a:t>
            </a:r>
          </a:p>
          <a:p>
            <a:pPr algn="just"/>
            <a:endParaRPr lang="en-US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/>
              <a:t>Build a governed Gold‑layer star schema (fact + dimension tables) optimized for fraud analytics, reporting, and high‑performance BI queries.</a:t>
            </a:r>
          </a:p>
          <a:p>
            <a:pPr algn="just"/>
            <a:endParaRPr lang="en-US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/>
              <a:t>Expose BI‑ready curated data through Databricks SQL Warehouse, integrating with Power BI dashboards to deliver real‑time fraud insights to analysts and business users.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6028466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3343FD8-A580-AADE-ECAE-FCE9AF2CC477}"/>
              </a:ext>
            </a:extLst>
          </p:cNvPr>
          <p:cNvSpPr txBox="1"/>
          <p:nvPr/>
        </p:nvSpPr>
        <p:spPr>
          <a:xfrm>
            <a:off x="439838" y="344882"/>
            <a:ext cx="87388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ARCHITECTURE DIAGRAM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78DA02B-8813-D411-FC69-AE4A190135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838" y="868102"/>
            <a:ext cx="10613985" cy="555018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DEA0347-4512-B881-7D38-BC216A62F62B}"/>
              </a:ext>
            </a:extLst>
          </p:cNvPr>
          <p:cNvSpPr txBox="1"/>
          <p:nvPr/>
        </p:nvSpPr>
        <p:spPr>
          <a:xfrm>
            <a:off x="3912243" y="6418286"/>
            <a:ext cx="24885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Fig 1. Architecture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9017590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01A61B6-6CA8-925D-C0DC-E4F8740612F4}"/>
              </a:ext>
            </a:extLst>
          </p:cNvPr>
          <p:cNvSpPr txBox="1"/>
          <p:nvPr/>
        </p:nvSpPr>
        <p:spPr>
          <a:xfrm>
            <a:off x="336513" y="437885"/>
            <a:ext cx="66207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DATASET OVERVIEW</a:t>
            </a:r>
            <a:endParaRPr lang="en-IN" sz="24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2BC7EF9-D5C3-B4A2-3A67-408923DB3B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513" y="889636"/>
            <a:ext cx="3124636" cy="522042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4291323-A5A7-5CDF-1C93-372FA039B4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6696" y="1165808"/>
            <a:ext cx="2257740" cy="217200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5B9CF18-BD72-2071-B0AB-2B3C2A67111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4014" y="1041711"/>
            <a:ext cx="2343477" cy="242019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8ADFFA1-3AF4-DC9F-8863-4E2EDDD975D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8090" y="4489905"/>
            <a:ext cx="2514951" cy="140037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932DB80-98B2-44E0-F0A7-03C4CCE513F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4013" y="4013604"/>
            <a:ext cx="2343477" cy="212437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B6A8066A-5035-DAFC-0F70-735AA0E8FA18}"/>
              </a:ext>
            </a:extLst>
          </p:cNvPr>
          <p:cNvSpPr txBox="1"/>
          <p:nvPr/>
        </p:nvSpPr>
        <p:spPr>
          <a:xfrm>
            <a:off x="545342" y="6180916"/>
            <a:ext cx="24996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Fig 2. </a:t>
            </a:r>
            <a:r>
              <a:rPr lang="en-US" dirty="0" err="1"/>
              <a:t>batch_transactions</a:t>
            </a:r>
            <a:endParaRPr lang="en-IN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C0EF48E-5E45-5BB7-7340-BF475F98E4BF}"/>
              </a:ext>
            </a:extLst>
          </p:cNvPr>
          <p:cNvSpPr txBox="1"/>
          <p:nvPr/>
        </p:nvSpPr>
        <p:spPr>
          <a:xfrm>
            <a:off x="3949145" y="3480480"/>
            <a:ext cx="29685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Fig 3. </a:t>
            </a:r>
            <a:r>
              <a:rPr lang="en-US" dirty="0" err="1"/>
              <a:t>customer_master_new</a:t>
            </a:r>
            <a:endParaRPr lang="en-IN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9802944-1F51-9B37-9402-1CA4EB42CA70}"/>
              </a:ext>
            </a:extLst>
          </p:cNvPr>
          <p:cNvSpPr txBox="1"/>
          <p:nvPr/>
        </p:nvSpPr>
        <p:spPr>
          <a:xfrm>
            <a:off x="3949145" y="6142175"/>
            <a:ext cx="3124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Fig 4. </a:t>
            </a:r>
            <a:r>
              <a:rPr lang="en-US" dirty="0" err="1"/>
              <a:t>merchant_blacklist_new</a:t>
            </a:r>
            <a:endParaRPr lang="en-IN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E11E057-F9B4-E9D0-972C-438DD7CFF2F7}"/>
              </a:ext>
            </a:extLst>
          </p:cNvPr>
          <p:cNvSpPr txBox="1"/>
          <p:nvPr/>
        </p:nvSpPr>
        <p:spPr>
          <a:xfrm>
            <a:off x="7503006" y="3480480"/>
            <a:ext cx="32628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Fig 5. </a:t>
            </a:r>
            <a:r>
              <a:rPr lang="en-US" dirty="0" err="1"/>
              <a:t>merchant_master_new</a:t>
            </a:r>
            <a:endParaRPr lang="en-IN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DE4E6F9-25F6-B1D2-DFE6-26AA2CBDF713}"/>
              </a:ext>
            </a:extLst>
          </p:cNvPr>
          <p:cNvSpPr txBox="1"/>
          <p:nvPr/>
        </p:nvSpPr>
        <p:spPr>
          <a:xfrm>
            <a:off x="7674013" y="6240979"/>
            <a:ext cx="23434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Fig 6. </a:t>
            </a:r>
            <a:r>
              <a:rPr lang="en-US" dirty="0" err="1"/>
              <a:t>fx_rates_new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654955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18ED05B-E29B-730E-5CB0-661AFBBCE2DD}"/>
              </a:ext>
            </a:extLst>
          </p:cNvPr>
          <p:cNvSpPr txBox="1"/>
          <p:nvPr/>
        </p:nvSpPr>
        <p:spPr>
          <a:xfrm>
            <a:off x="464837" y="629062"/>
            <a:ext cx="71415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STAR SCHEMA</a:t>
            </a:r>
            <a:endParaRPr lang="en-IN" sz="24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616AC70-846B-D6A2-AF0C-5CF80CD68E11}"/>
              </a:ext>
            </a:extLst>
          </p:cNvPr>
          <p:cNvSpPr txBox="1"/>
          <p:nvPr/>
        </p:nvSpPr>
        <p:spPr>
          <a:xfrm>
            <a:off x="4271058" y="6377651"/>
            <a:ext cx="26158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Fig 7. Star Schema</a:t>
            </a:r>
            <a:endParaRPr lang="en-IN" b="1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96471288-CB6E-9627-F6BD-218F69E6A0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37" y="1090727"/>
            <a:ext cx="10228319" cy="51359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472809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98F8CB7-0A19-F7E5-164F-F2F7600EFEF8}"/>
              </a:ext>
            </a:extLst>
          </p:cNvPr>
          <p:cNvSpPr txBox="1"/>
          <p:nvPr/>
        </p:nvSpPr>
        <p:spPr>
          <a:xfrm>
            <a:off x="150686" y="468167"/>
            <a:ext cx="89819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AZURE DATA LAKE STORAGE (ADLS) </a:t>
            </a:r>
            <a:endParaRPr lang="en-IN" sz="2400" b="1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BC01B24-125D-9854-EF3C-F72E13EE2C21}"/>
              </a:ext>
            </a:extLst>
          </p:cNvPr>
          <p:cNvSpPr/>
          <p:nvPr/>
        </p:nvSpPr>
        <p:spPr>
          <a:xfrm>
            <a:off x="234401" y="1040352"/>
            <a:ext cx="11806913" cy="544456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7E2D11-6A32-1B84-2075-03EE2043E466}"/>
              </a:ext>
            </a:extLst>
          </p:cNvPr>
          <p:cNvSpPr txBox="1"/>
          <p:nvPr/>
        </p:nvSpPr>
        <p:spPr>
          <a:xfrm>
            <a:off x="224362" y="1078097"/>
            <a:ext cx="5829782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ADLS : central landing zone for transactional and reference data, offering scalable, durable, and cost‑efficient storage.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Supports continuous ingestion using Auto Loader, enabling automatic file detection, historical backfill, and incremental processing.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Schema is inferred and evolves automatically, allowing new columns or structural changes without ingestion failures.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Ensures reliability and governance through high availability, secure IAM‑based access, and preservation of raw files for audit and replay needs.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In the Bronze layer, data from ADLS is ingested exactly as received into Delta, enabling decoupling of producers/consumers and efficient reprocessing aligned with Medallion Architecture.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6146B44-209E-5381-6013-C633330BBD7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5979"/>
          <a:stretch>
            <a:fillRect/>
          </a:stretch>
        </p:blipFill>
        <p:spPr>
          <a:xfrm>
            <a:off x="6291926" y="1224506"/>
            <a:ext cx="5511605" cy="470366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1FFA567-A5E7-49A4-3EE7-C75668FFFCF6}"/>
              </a:ext>
            </a:extLst>
          </p:cNvPr>
          <p:cNvSpPr txBox="1"/>
          <p:nvPr/>
        </p:nvSpPr>
        <p:spPr>
          <a:xfrm>
            <a:off x="7190129" y="5981023"/>
            <a:ext cx="33450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Fig 8. Creating Storage Account</a:t>
            </a:r>
          </a:p>
        </p:txBody>
      </p:sp>
    </p:spTree>
    <p:extLst>
      <p:ext uri="{BB962C8B-B14F-4D97-AF65-F5344CB8AC3E}">
        <p14:creationId xmlns:p14="http://schemas.microsoft.com/office/powerpoint/2010/main" val="31692655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DD62F3E-9667-9768-7ED4-BDBE37FD0E3D}"/>
              </a:ext>
            </a:extLst>
          </p:cNvPr>
          <p:cNvSpPr txBox="1"/>
          <p:nvPr/>
        </p:nvSpPr>
        <p:spPr>
          <a:xfrm>
            <a:off x="152400" y="436222"/>
            <a:ext cx="726890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Enabling Hierarchical Namespace and Storage Account Creation</a:t>
            </a:r>
            <a:endParaRPr lang="en-IN" sz="24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B96F54-88C2-4A30-24E4-B4FD5424EF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1457118"/>
            <a:ext cx="6131880" cy="154410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5B5A4D5-C5DE-657F-CCCF-28FFFE1D7AFC}"/>
              </a:ext>
            </a:extLst>
          </p:cNvPr>
          <p:cNvSpPr txBox="1"/>
          <p:nvPr/>
        </p:nvSpPr>
        <p:spPr>
          <a:xfrm>
            <a:off x="1110647" y="3001225"/>
            <a:ext cx="39353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Fig 9. Enabling Hierarchical Namespace 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7EC704C-9B50-7820-6272-40BC621933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3595989"/>
            <a:ext cx="6131880" cy="229552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28374F7-6376-09BE-CA39-1A088FD52969}"/>
              </a:ext>
            </a:extLst>
          </p:cNvPr>
          <p:cNvSpPr txBox="1"/>
          <p:nvPr/>
        </p:nvSpPr>
        <p:spPr>
          <a:xfrm>
            <a:off x="671332" y="5891514"/>
            <a:ext cx="46182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Fig 10 . Successful Creation of Storage Account</a:t>
            </a:r>
            <a:endParaRPr lang="en-IN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62FA0CD-FCAF-1F86-5706-2A9027DA784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47953"/>
          <a:stretch>
            <a:fillRect/>
          </a:stretch>
        </p:blipFill>
        <p:spPr>
          <a:xfrm>
            <a:off x="7145963" y="2055662"/>
            <a:ext cx="4443757" cy="245797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3330D40-EB1F-A6BF-6A8C-BAD8A4806F6F}"/>
              </a:ext>
            </a:extLst>
          </p:cNvPr>
          <p:cNvSpPr txBox="1"/>
          <p:nvPr/>
        </p:nvSpPr>
        <p:spPr>
          <a:xfrm>
            <a:off x="8469831" y="4559085"/>
            <a:ext cx="2146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Fig 11. File Hierarchy</a:t>
            </a:r>
          </a:p>
        </p:txBody>
      </p:sp>
    </p:spTree>
    <p:extLst>
      <p:ext uri="{BB962C8B-B14F-4D97-AF65-F5344CB8AC3E}">
        <p14:creationId xmlns:p14="http://schemas.microsoft.com/office/powerpoint/2010/main" val="27400357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00F0704-DFC1-8579-47DC-A2759D947745}"/>
              </a:ext>
            </a:extLst>
          </p:cNvPr>
          <p:cNvSpPr txBox="1"/>
          <p:nvPr/>
        </p:nvSpPr>
        <p:spPr>
          <a:xfrm>
            <a:off x="300368" y="439045"/>
            <a:ext cx="79749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DATA UPLOADATION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A835AA6-8101-10EA-3917-82C9F2B361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368" y="900710"/>
            <a:ext cx="5943600" cy="268351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B31CC3D-D08A-4F93-5AFA-7B45D85985F7}"/>
              </a:ext>
            </a:extLst>
          </p:cNvPr>
          <p:cNvSpPr txBox="1"/>
          <p:nvPr/>
        </p:nvSpPr>
        <p:spPr>
          <a:xfrm>
            <a:off x="992047" y="3584220"/>
            <a:ext cx="4120588" cy="3819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Fig 12. Transaction Files</a:t>
            </a:r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10F2BE8-BBB6-031F-6338-08CF13E192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173" y="4213185"/>
            <a:ext cx="5758795" cy="183769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272D6AA-E4CD-6635-B2CC-C9FE714056DD}"/>
              </a:ext>
            </a:extLst>
          </p:cNvPr>
          <p:cNvSpPr txBox="1"/>
          <p:nvPr/>
        </p:nvSpPr>
        <p:spPr>
          <a:xfrm>
            <a:off x="1813850" y="6089380"/>
            <a:ext cx="2476982" cy="3819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Fig 13. Reference Files</a:t>
            </a:r>
            <a:endParaRPr lang="en-IN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3D151C0-1C8E-5969-F2B5-AD86A79C1EF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22378"/>
          <a:stretch>
            <a:fillRect/>
          </a:stretch>
        </p:blipFill>
        <p:spPr>
          <a:xfrm>
            <a:off x="6499002" y="1862982"/>
            <a:ext cx="5317699" cy="308577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94EF03E-4715-08D6-9546-B428D946A7CA}"/>
              </a:ext>
            </a:extLst>
          </p:cNvPr>
          <p:cNvSpPr txBox="1"/>
          <p:nvPr/>
        </p:nvSpPr>
        <p:spPr>
          <a:xfrm>
            <a:off x="8003691" y="5132030"/>
            <a:ext cx="2476982" cy="3819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Fig 14. Role Assignment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003891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81E122F-585F-1ECA-B28D-4A17F2D9E3AB}"/>
              </a:ext>
            </a:extLst>
          </p:cNvPr>
          <p:cNvSpPr txBox="1"/>
          <p:nvPr/>
        </p:nvSpPr>
        <p:spPr>
          <a:xfrm>
            <a:off x="300942" y="429586"/>
            <a:ext cx="91324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BRONZE LAYER</a:t>
            </a:r>
            <a:endParaRPr lang="en-IN" sz="2400" b="1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F53C759-1E33-C606-634A-58508B1DBE70}"/>
              </a:ext>
            </a:extLst>
          </p:cNvPr>
          <p:cNvSpPr/>
          <p:nvPr/>
        </p:nvSpPr>
        <p:spPr>
          <a:xfrm>
            <a:off x="300942" y="891251"/>
            <a:ext cx="11181144" cy="560214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4241AD4-227F-EB56-4F84-5979B34885C3}"/>
              </a:ext>
            </a:extLst>
          </p:cNvPr>
          <p:cNvSpPr txBox="1"/>
          <p:nvPr/>
        </p:nvSpPr>
        <p:spPr>
          <a:xfrm>
            <a:off x="427942" y="660418"/>
            <a:ext cx="9676436" cy="64325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1600" dirty="0">
              <a:latin typeface="Arial" panose="020B0604020202020204" pitchFamily="34" charset="0"/>
            </a:endParaRP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Raw Ingestion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latin typeface="Arial" panose="020B0604020202020204" pitchFamily="34" charset="0"/>
              </a:rPr>
              <a:t>Implemented </a:t>
            </a:r>
            <a:r>
              <a:rPr lang="en-US" altLang="en-US" sz="1600" b="1" dirty="0">
                <a:latin typeface="Arial" panose="020B0604020202020204" pitchFamily="34" charset="0"/>
              </a:rPr>
              <a:t>incremental file ingestion</a:t>
            </a:r>
            <a:r>
              <a:rPr lang="en-US" altLang="en-US" sz="1600" dirty="0">
                <a:latin typeface="Arial" panose="020B0604020202020204" pitchFamily="34" charset="0"/>
              </a:rPr>
              <a:t> using </a:t>
            </a:r>
            <a:r>
              <a:rPr lang="en-US" altLang="en-US" sz="1600" b="1" dirty="0">
                <a:latin typeface="Arial" panose="020B0604020202020204" pitchFamily="34" charset="0"/>
              </a:rPr>
              <a:t>Databricks Auto Loader</a:t>
            </a:r>
            <a:r>
              <a:rPr lang="en-US" altLang="en-US" sz="1600" dirty="0">
                <a:latin typeface="Arial" panose="020B0604020202020204" pitchFamily="34" charset="0"/>
              </a:rPr>
              <a:t> (</a:t>
            </a:r>
            <a:r>
              <a:rPr lang="en-US" altLang="en-US" sz="1600" dirty="0" err="1">
                <a:latin typeface="Arial" panose="020B0604020202020204" pitchFamily="34" charset="0"/>
              </a:rPr>
              <a:t>cloud_files</a:t>
            </a:r>
            <a:r>
              <a:rPr lang="en-US" altLang="en-US" sz="1600" dirty="0">
                <a:latin typeface="Arial" panose="020B0604020202020204" pitchFamily="34" charset="0"/>
              </a:rPr>
              <a:t>)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latin typeface="Arial" panose="020B0604020202020204" pitchFamily="34" charset="0"/>
              </a:rPr>
              <a:t>Source: </a:t>
            </a:r>
            <a:r>
              <a:rPr lang="en-US" altLang="en-US" sz="1600" b="1" dirty="0">
                <a:latin typeface="Arial" panose="020B0604020202020204" pitchFamily="34" charset="0"/>
              </a:rPr>
              <a:t>ADLS → Unity Catalog Volume → Bronze Delta Table</a:t>
            </a:r>
            <a:endParaRPr lang="en-US" altLang="en-US" sz="1600" dirty="0">
              <a:latin typeface="Arial" panose="020B0604020202020204" pitchFamily="34" charset="0"/>
            </a:endParaRP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latin typeface="Arial" panose="020B0604020202020204" pitchFamily="34" charset="0"/>
              </a:rPr>
              <a:t>Storage format: </a:t>
            </a:r>
            <a:r>
              <a:rPr lang="en-US" altLang="en-US" sz="1600" b="1" dirty="0">
                <a:latin typeface="Arial" panose="020B0604020202020204" pitchFamily="34" charset="0"/>
              </a:rPr>
              <a:t>Delta Lake</a:t>
            </a:r>
            <a:r>
              <a:rPr lang="en-US" altLang="en-US" sz="1600" dirty="0">
                <a:latin typeface="Arial" panose="020B0604020202020204" pitchFamily="34" charset="0"/>
              </a:rPr>
              <a:t> for ACID compliance and time travel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600" dirty="0">
              <a:latin typeface="Arial" panose="020B0604020202020204" pitchFamily="34" charset="0"/>
            </a:endParaRPr>
          </a:p>
          <a:p>
            <a:pPr algn="just"/>
            <a:r>
              <a:rPr lang="en-US" sz="2000" b="1" dirty="0"/>
              <a:t>Schema Management &amp; Data Quality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Schema inference enabled </a:t>
            </a:r>
            <a:r>
              <a:rPr lang="en-US" sz="1600" dirty="0"/>
              <a:t>(</a:t>
            </a:r>
            <a:r>
              <a:rPr lang="en-US" b="1" dirty="0" err="1"/>
              <a:t>cloudFiles.inferColumnTypes</a:t>
            </a:r>
            <a:r>
              <a:rPr lang="en-US" b="1" dirty="0"/>
              <a:t> = true</a:t>
            </a:r>
            <a:r>
              <a:rPr lang="en-US" sz="1600" dirty="0"/>
              <a:t>)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Automatic schema evolution </a:t>
            </a:r>
            <a:r>
              <a:rPr lang="en-US" sz="1600" dirty="0"/>
              <a:t>(</a:t>
            </a:r>
            <a:r>
              <a:rPr lang="en-US" b="1" dirty="0" err="1"/>
              <a:t>schemaEvolutionMode</a:t>
            </a:r>
            <a:r>
              <a:rPr lang="en-US" b="1" dirty="0"/>
              <a:t> = </a:t>
            </a:r>
            <a:r>
              <a:rPr lang="en-US" b="1" dirty="0" err="1"/>
              <a:t>addNewColumns</a:t>
            </a:r>
            <a:r>
              <a:rPr lang="en-US" sz="1600" dirty="0"/>
              <a:t>)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Malformed and unexpected records captured using rescued data column </a:t>
            </a:r>
            <a:r>
              <a:rPr lang="en-US" sz="1050" b="1" dirty="0"/>
              <a:t>(</a:t>
            </a:r>
            <a:r>
              <a:rPr lang="en-US" b="1" dirty="0"/>
              <a:t>_</a:t>
            </a:r>
            <a:r>
              <a:rPr lang="en-US" b="1" dirty="0" err="1"/>
              <a:t>rescued_data</a:t>
            </a:r>
            <a:r>
              <a:rPr lang="en-US" sz="1600" dirty="0"/>
              <a:t>)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Ensures </a:t>
            </a:r>
            <a:r>
              <a:rPr lang="en-US" b="1" dirty="0"/>
              <a:t>schema drift tolerance</a:t>
            </a:r>
            <a:endParaRPr lang="en-US" dirty="0"/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600" dirty="0">
              <a:latin typeface="Arial" panose="020B0604020202020204" pitchFamily="34" charset="0"/>
            </a:endParaRPr>
          </a:p>
          <a:p>
            <a:pPr algn="just"/>
            <a:r>
              <a:rPr lang="en-US" sz="2000" b="1" dirty="0"/>
              <a:t>Metadata &amp; Lineage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 err="1"/>
              <a:t>ingestion_timestamp</a:t>
            </a:r>
            <a:r>
              <a:rPr lang="en-US" dirty="0"/>
              <a:t> → ingestion audit tracking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 err="1"/>
              <a:t>source_file</a:t>
            </a:r>
            <a:r>
              <a:rPr lang="en-US" dirty="0"/>
              <a:t> → file-level lineage via _</a:t>
            </a:r>
            <a:r>
              <a:rPr lang="en-US" dirty="0" err="1"/>
              <a:t>metadata.file_path</a:t>
            </a:r>
            <a:endParaRPr lang="en-US" dirty="0"/>
          </a:p>
          <a:p>
            <a:pPr algn="just"/>
            <a:endParaRPr lang="en-US" dirty="0"/>
          </a:p>
          <a:p>
            <a:pPr algn="just"/>
            <a:r>
              <a:rPr lang="en-US" sz="2000" b="1" dirty="0"/>
              <a:t>Ingestion Control</a:t>
            </a:r>
          </a:p>
          <a:p>
            <a:pPr algn="just"/>
            <a:r>
              <a:rPr lang="en-US" dirty="0"/>
              <a:t>One-time micro-batch execution → </a:t>
            </a:r>
            <a:r>
              <a:rPr lang="en-US" b="1" dirty="0"/>
              <a:t>trigger(</a:t>
            </a:r>
            <a:r>
              <a:rPr lang="en-US" b="1" dirty="0" err="1"/>
              <a:t>availableNow</a:t>
            </a:r>
            <a:r>
              <a:rPr lang="en-US" b="1" dirty="0"/>
              <a:t>=True)</a:t>
            </a:r>
            <a:r>
              <a:rPr lang="en-US" dirty="0"/>
              <a:t> </a:t>
            </a:r>
          </a:p>
          <a:p>
            <a:endParaRPr lang="en-US" sz="2000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latin typeface="Arial" panose="020B0604020202020204" pitchFamily="34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49575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E3A4E6F-2C54-4EBE-806E-CA95396C199C}"/>
              </a:ext>
            </a:extLst>
          </p:cNvPr>
          <p:cNvSpPr txBox="1"/>
          <p:nvPr/>
        </p:nvSpPr>
        <p:spPr>
          <a:xfrm>
            <a:off x="243068" y="437853"/>
            <a:ext cx="932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SILVER LAYER </a:t>
            </a:r>
            <a:endParaRPr lang="en-IN" sz="2800" b="1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6C1CF69-439D-8731-324C-875C13CFE0CE}"/>
              </a:ext>
            </a:extLst>
          </p:cNvPr>
          <p:cNvSpPr/>
          <p:nvPr/>
        </p:nvSpPr>
        <p:spPr>
          <a:xfrm>
            <a:off x="243068" y="993307"/>
            <a:ext cx="11065398" cy="548851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4289AEA-B533-C9D0-8583-9B6E3DD1D84E}"/>
              </a:ext>
            </a:extLst>
          </p:cNvPr>
          <p:cNvSpPr txBox="1"/>
          <p:nvPr/>
        </p:nvSpPr>
        <p:spPr>
          <a:xfrm>
            <a:off x="347240" y="1267393"/>
            <a:ext cx="9924519" cy="47551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b="1" dirty="0"/>
              <a:t>Objective</a:t>
            </a:r>
          </a:p>
          <a:p>
            <a:pPr algn="just"/>
            <a:r>
              <a:rPr lang="en-US" dirty="0"/>
              <a:t>Improve data quality and reliability.</a:t>
            </a:r>
          </a:p>
          <a:p>
            <a:pPr algn="just"/>
            <a:r>
              <a:rPr lang="en-US" dirty="0"/>
              <a:t>Enforce business rules and prepare data for analytics.</a:t>
            </a:r>
          </a:p>
          <a:p>
            <a:pPr algn="just"/>
            <a:endParaRPr lang="en-US" dirty="0"/>
          </a:p>
          <a:p>
            <a:pPr algn="just"/>
            <a:r>
              <a:rPr lang="en-US" sz="2000" b="1" dirty="0"/>
              <a:t>Cleansing , Standardization and Enrichment</a:t>
            </a:r>
            <a:endParaRPr lang="en-US" sz="20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Deduplication of transactions.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Primary and Foreign key validation with Auditing.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Handling NULL country and currency values.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Standardization of transactions amount (</a:t>
            </a:r>
            <a:r>
              <a:rPr lang="en-US" b="1" dirty="0"/>
              <a:t>USD</a:t>
            </a:r>
            <a:r>
              <a:rPr lang="en-US" dirty="0"/>
              <a:t>).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Outlier detection using IQR(IQR=Q3-Q1;UpperBound=Q3+1.5 x(Q3-Q1);flag if amount&gt;upper bound)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Fraud flag enrichment.</a:t>
            </a:r>
          </a:p>
          <a:p>
            <a:pPr algn="just">
              <a:lnSpc>
                <a:spcPct val="150000"/>
              </a:lnSpc>
            </a:pPr>
            <a:endParaRPr lang="en-US" dirty="0"/>
          </a:p>
          <a:p>
            <a:pPr algn="just"/>
            <a:r>
              <a:rPr lang="en-IN" sz="2000" b="1" dirty="0"/>
              <a:t>Output</a:t>
            </a:r>
            <a:endParaRPr lang="en-IN" sz="20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/>
              <a:t>Cleaned and enriched Silver Transactions table.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/>
              <a:t>Change Data Feed (CDF) enabled for incremental processing.</a:t>
            </a:r>
          </a:p>
          <a:p>
            <a:pPr algn="just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947907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5520BE1-7993-D1B8-C44E-3BA1EB87D814}"/>
              </a:ext>
            </a:extLst>
          </p:cNvPr>
          <p:cNvSpPr txBox="1"/>
          <p:nvPr/>
        </p:nvSpPr>
        <p:spPr>
          <a:xfrm>
            <a:off x="277790" y="347897"/>
            <a:ext cx="82411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GOLD LAYER : Analytics and Optimization</a:t>
            </a:r>
            <a:endParaRPr lang="en-IN" sz="2800" b="1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E4909B3-8848-81D8-2964-7DD67C79165E}"/>
              </a:ext>
            </a:extLst>
          </p:cNvPr>
          <p:cNvSpPr/>
          <p:nvPr/>
        </p:nvSpPr>
        <p:spPr>
          <a:xfrm>
            <a:off x="277792" y="871117"/>
            <a:ext cx="11146421" cy="574758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982257-6250-A8B9-A274-E0475ECECF4F}"/>
              </a:ext>
            </a:extLst>
          </p:cNvPr>
          <p:cNvSpPr txBox="1"/>
          <p:nvPr/>
        </p:nvSpPr>
        <p:spPr>
          <a:xfrm>
            <a:off x="379392" y="1067251"/>
            <a:ext cx="11044822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/>
              <a:t>Designed a Star Schema optimized for analytical queries, moving away from flat files to a relational model.</a:t>
            </a:r>
          </a:p>
          <a:p>
            <a:pPr algn="just"/>
            <a:r>
              <a:rPr lang="en-US" b="1" dirty="0"/>
              <a:t>Architecture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Implemented a standard Fact-Dimension model.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Fact Table: </a:t>
            </a:r>
            <a:r>
              <a:rPr lang="en-US" dirty="0" err="1"/>
              <a:t>fact_transactions</a:t>
            </a:r>
            <a:r>
              <a:rPr lang="en-US" dirty="0"/>
              <a:t> (Contains metrics like amount, </a:t>
            </a:r>
            <a:r>
              <a:rPr lang="en-US" dirty="0" err="1"/>
              <a:t>fraud_flag</a:t>
            </a:r>
            <a:r>
              <a:rPr lang="en-US" dirty="0"/>
              <a:t>).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Dimensions: </a:t>
            </a:r>
            <a:r>
              <a:rPr lang="en-US" dirty="0" err="1"/>
              <a:t>dim_customers</a:t>
            </a:r>
            <a:r>
              <a:rPr lang="en-US" dirty="0"/>
              <a:t> and </a:t>
            </a:r>
            <a:r>
              <a:rPr lang="en-US" dirty="0" err="1"/>
              <a:t>dim_merchants</a:t>
            </a:r>
            <a:r>
              <a:rPr lang="en-US" dirty="0"/>
              <a:t> (Contain context).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/>
          </a:p>
          <a:p>
            <a:pPr algn="just"/>
            <a:r>
              <a:rPr lang="en-US" b="1" dirty="0"/>
              <a:t>SCD Type 2 (History Tracking) : </a:t>
            </a:r>
            <a:r>
              <a:rPr lang="en-US" dirty="0"/>
              <a:t>Applied to </a:t>
            </a:r>
            <a:r>
              <a:rPr lang="en-US" dirty="0" err="1"/>
              <a:t>dim_customers</a:t>
            </a:r>
            <a:r>
              <a:rPr lang="en-US" dirty="0"/>
              <a:t>.</a:t>
            </a:r>
          </a:p>
          <a:p>
            <a:pPr algn="just"/>
            <a:r>
              <a:rPr lang="en-US" b="1" dirty="0"/>
              <a:t>Technique</a:t>
            </a:r>
          </a:p>
          <a:p>
            <a:pPr algn="just"/>
            <a:r>
              <a:rPr lang="en-US" dirty="0"/>
              <a:t>Used a "Hash Diff" approach. If a customer's </a:t>
            </a:r>
            <a:r>
              <a:rPr lang="en-US" dirty="0" err="1"/>
              <a:t>risk_segment</a:t>
            </a:r>
            <a:r>
              <a:rPr lang="en-US" dirty="0"/>
              <a:t> changes, we close the old record (</a:t>
            </a:r>
            <a:r>
              <a:rPr lang="en-US" dirty="0" err="1"/>
              <a:t>is_current</a:t>
            </a:r>
            <a:r>
              <a:rPr lang="en-US" dirty="0"/>
              <a:t>=False) and insert a new one. This allows us to analyze fraud based on the customer's risk level at the time of the transaction.</a:t>
            </a:r>
          </a:p>
          <a:p>
            <a:pPr algn="just"/>
            <a:endParaRPr lang="en-US" dirty="0"/>
          </a:p>
          <a:p>
            <a:pPr algn="just"/>
            <a:r>
              <a:rPr lang="en-US" b="1" dirty="0"/>
              <a:t>SCD Type 1 (Latest State): </a:t>
            </a:r>
            <a:r>
              <a:rPr lang="en-US" dirty="0"/>
              <a:t>Applied to </a:t>
            </a:r>
            <a:r>
              <a:rPr lang="en-US" dirty="0" err="1"/>
              <a:t>dim_merchants</a:t>
            </a:r>
            <a:r>
              <a:rPr lang="en-US" dirty="0"/>
              <a:t>.</a:t>
            </a:r>
          </a:p>
          <a:p>
            <a:pPr algn="just"/>
            <a:r>
              <a:rPr lang="en-US" b="1" dirty="0"/>
              <a:t>Technique</a:t>
            </a:r>
          </a:p>
          <a:p>
            <a:pPr algn="just"/>
            <a:r>
              <a:rPr lang="en-US" dirty="0"/>
              <a:t>We keep only the latest details for merchants (overwriting old data) since merchant history was deemed less critical for this use case.</a:t>
            </a:r>
          </a:p>
          <a:p>
            <a:pPr algn="just"/>
            <a:endParaRPr lang="en-US" dirty="0"/>
          </a:p>
          <a:p>
            <a:pPr algn="just"/>
            <a:r>
              <a:rPr lang="en-US" b="1" dirty="0"/>
              <a:t>Surrogate</a:t>
            </a:r>
            <a:r>
              <a:rPr lang="en-US" dirty="0"/>
              <a:t> </a:t>
            </a:r>
            <a:r>
              <a:rPr lang="en-US" b="1" dirty="0"/>
              <a:t>Keys</a:t>
            </a:r>
          </a:p>
          <a:p>
            <a:pPr algn="just"/>
            <a:r>
              <a:rPr lang="en-US" dirty="0"/>
              <a:t>Generated </a:t>
            </a:r>
            <a:r>
              <a:rPr lang="en-US" dirty="0" err="1"/>
              <a:t>sk</a:t>
            </a:r>
            <a:r>
              <a:rPr lang="en-US" dirty="0"/>
              <a:t> (hashed) keys (e.g., </a:t>
            </a:r>
            <a:r>
              <a:rPr lang="en-US" dirty="0" err="1"/>
              <a:t>customer_sk</a:t>
            </a:r>
            <a:r>
              <a:rPr lang="en-US" dirty="0"/>
              <a:t>) to uniquely identify rows and handle history, completely decoupling our warehouse from source system IDs.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838403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FE3EB32-A26D-CC57-C687-261B45E2B90B}"/>
              </a:ext>
            </a:extLst>
          </p:cNvPr>
          <p:cNvSpPr txBox="1"/>
          <p:nvPr/>
        </p:nvSpPr>
        <p:spPr>
          <a:xfrm>
            <a:off x="384536" y="438845"/>
            <a:ext cx="87620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GOLD LAYER - Optimization</a:t>
            </a:r>
            <a:endParaRPr lang="en-IN" sz="2400" b="1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85702CA-2E2A-2745-0B96-F4CC77B554BE}"/>
              </a:ext>
            </a:extLst>
          </p:cNvPr>
          <p:cNvSpPr/>
          <p:nvPr/>
        </p:nvSpPr>
        <p:spPr>
          <a:xfrm>
            <a:off x="384536" y="1115510"/>
            <a:ext cx="10858499" cy="545039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IN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37E743E-3CC8-22E0-A50C-D526DCB7CD4B}"/>
              </a:ext>
            </a:extLst>
          </p:cNvPr>
          <p:cNvSpPr txBox="1"/>
          <p:nvPr/>
        </p:nvSpPr>
        <p:spPr>
          <a:xfrm>
            <a:off x="484367" y="1270000"/>
            <a:ext cx="10473964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1" dirty="0"/>
              <a:t>Z-Ordering (Clustering)</a:t>
            </a:r>
          </a:p>
          <a:p>
            <a:pPr lvl="1" algn="just"/>
            <a:r>
              <a:rPr lang="en-US" b="1" dirty="0"/>
              <a:t>Code</a:t>
            </a:r>
            <a:r>
              <a:rPr lang="en-US" dirty="0"/>
              <a:t> : OPTIMIZE </a:t>
            </a:r>
            <a:r>
              <a:rPr lang="en-US" dirty="0" err="1"/>
              <a:t>fact_transactions</a:t>
            </a:r>
            <a:r>
              <a:rPr lang="en-US" dirty="0"/>
              <a:t> ZORDER BY (</a:t>
            </a:r>
            <a:r>
              <a:rPr lang="en-US" dirty="0" err="1"/>
              <a:t>customer_fk</a:t>
            </a:r>
            <a:r>
              <a:rPr lang="en-US" dirty="0"/>
              <a:t>, </a:t>
            </a:r>
            <a:r>
              <a:rPr lang="en-US" dirty="0" err="1"/>
              <a:t>merchant_fk</a:t>
            </a:r>
            <a:r>
              <a:rPr lang="en-US" dirty="0"/>
              <a:t>)</a:t>
            </a:r>
          </a:p>
          <a:p>
            <a:pPr lvl="1" algn="just"/>
            <a:r>
              <a:rPr lang="en-US" b="1" dirty="0"/>
              <a:t>Benefit</a:t>
            </a:r>
            <a:r>
              <a:rPr lang="en-US" dirty="0"/>
              <a:t>: Co-locates related data in the same physical files. This speeds up filtering by Customer or Merchant by skipping irrelevant files (Data Skipping).</a:t>
            </a:r>
          </a:p>
          <a:p>
            <a:pPr algn="just"/>
            <a:endParaRPr lang="en-US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1" dirty="0"/>
              <a:t>Partitioning</a:t>
            </a:r>
            <a:endParaRPr lang="en-US" dirty="0"/>
          </a:p>
          <a:p>
            <a:pPr lvl="1" algn="just"/>
            <a:r>
              <a:rPr lang="en-US" b="1" dirty="0"/>
              <a:t>Code </a:t>
            </a:r>
            <a:r>
              <a:rPr lang="en-US" dirty="0"/>
              <a:t>: .</a:t>
            </a:r>
            <a:r>
              <a:rPr lang="en-US" dirty="0" err="1"/>
              <a:t>partitionBy</a:t>
            </a:r>
            <a:r>
              <a:rPr lang="en-US" dirty="0"/>
              <a:t>("</a:t>
            </a:r>
            <a:r>
              <a:rPr lang="en-US" dirty="0" err="1"/>
              <a:t>date_key</a:t>
            </a:r>
            <a:r>
              <a:rPr lang="en-US" dirty="0"/>
              <a:t>")</a:t>
            </a:r>
          </a:p>
          <a:p>
            <a:pPr lvl="1" algn="just"/>
            <a:r>
              <a:rPr lang="en-US" b="1" dirty="0"/>
              <a:t>Benefit </a:t>
            </a:r>
            <a:r>
              <a:rPr lang="en-US" dirty="0"/>
              <a:t>: Allows queries to target specific days (Partition Pruning) instead of scanning the entire history.</a:t>
            </a:r>
          </a:p>
          <a:p>
            <a:pPr algn="just"/>
            <a:endParaRPr lang="en-US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1" dirty="0"/>
              <a:t>Broadcast Joins</a:t>
            </a:r>
            <a:endParaRPr lang="en-US" dirty="0"/>
          </a:p>
          <a:p>
            <a:pPr lvl="1" algn="just"/>
            <a:r>
              <a:rPr lang="en-US" b="1" dirty="0"/>
              <a:t>Code</a:t>
            </a:r>
            <a:r>
              <a:rPr lang="en-US" dirty="0"/>
              <a:t> : .join(broadcast(</a:t>
            </a:r>
            <a:r>
              <a:rPr lang="en-US" dirty="0" err="1"/>
              <a:t>dim_cust_active</a:t>
            </a:r>
            <a:r>
              <a:rPr lang="en-US" dirty="0"/>
              <a:t>)…)</a:t>
            </a:r>
          </a:p>
          <a:p>
            <a:pPr lvl="1" algn="just"/>
            <a:r>
              <a:rPr lang="en-US" b="1" dirty="0"/>
              <a:t>Benefit </a:t>
            </a:r>
            <a:r>
              <a:rPr lang="en-US" dirty="0"/>
              <a:t>: Sends the small Dimension tables to all worker nodes instantly, eliminating expensive "Shuffles" of the massive Fact table during the join.</a:t>
            </a:r>
          </a:p>
          <a:p>
            <a:pPr lvl="1" algn="just"/>
            <a:endParaRPr lang="en-US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1" dirty="0"/>
              <a:t>CDC (Change Data Capture) via MERGE</a:t>
            </a:r>
          </a:p>
          <a:p>
            <a:pPr lvl="1" algn="just"/>
            <a:r>
              <a:rPr lang="en-US" b="1" dirty="0"/>
              <a:t>Code </a:t>
            </a:r>
            <a:r>
              <a:rPr lang="en-US" dirty="0"/>
              <a:t>: MERGE INTO ... WHEN MATCHED UPDATE ...</a:t>
            </a:r>
          </a:p>
          <a:p>
            <a:pPr lvl="1" algn="just"/>
            <a:r>
              <a:rPr lang="en-US" b="1" dirty="0"/>
              <a:t>Benefit </a:t>
            </a:r>
            <a:r>
              <a:rPr lang="en-US" dirty="0"/>
              <a:t>: Instead of rewriting the whole table every day, we only touch rows that changed or are new (</a:t>
            </a:r>
            <a:r>
              <a:rPr lang="en-US" dirty="0" err="1"/>
              <a:t>Upsert</a:t>
            </a:r>
            <a:r>
              <a:rPr lang="en-US" dirty="0"/>
              <a:t> strategy).</a:t>
            </a:r>
          </a:p>
          <a:p>
            <a:pPr lvl="1" algn="just"/>
            <a:endParaRPr lang="en-US" dirty="0"/>
          </a:p>
          <a:p>
            <a:pPr algn="just"/>
            <a:endParaRPr lang="en-US" dirty="0"/>
          </a:p>
          <a:p>
            <a:pPr algn="just"/>
            <a:endParaRPr lang="en-IN" dirty="0"/>
          </a:p>
          <a:p>
            <a:pPr algn="just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428380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2639559-DD61-230A-F51D-FD5ACC9888BE}"/>
              </a:ext>
            </a:extLst>
          </p:cNvPr>
          <p:cNvSpPr txBox="1"/>
          <p:nvPr/>
        </p:nvSpPr>
        <p:spPr>
          <a:xfrm>
            <a:off x="396110" y="348129"/>
            <a:ext cx="83453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GOLD LAYER</a:t>
            </a:r>
            <a:endParaRPr lang="en-IN" sz="2400" b="1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5675AE8-AE53-EC06-1B84-12E6E969EA78}"/>
              </a:ext>
            </a:extLst>
          </p:cNvPr>
          <p:cNvSpPr/>
          <p:nvPr/>
        </p:nvSpPr>
        <p:spPr>
          <a:xfrm>
            <a:off x="401255" y="935270"/>
            <a:ext cx="11368269" cy="557460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DA9C51D-9CB0-B81D-44F5-AC27B4F7C789}"/>
              </a:ext>
            </a:extLst>
          </p:cNvPr>
          <p:cNvSpPr txBox="1"/>
          <p:nvPr/>
        </p:nvSpPr>
        <p:spPr>
          <a:xfrm>
            <a:off x="422476" y="820969"/>
            <a:ext cx="11210724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en-US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1" dirty="0"/>
              <a:t>Change Data Feed (CDF)</a:t>
            </a:r>
          </a:p>
          <a:p>
            <a:pPr lvl="1" algn="just"/>
            <a:r>
              <a:rPr lang="en-US" b="1" dirty="0"/>
              <a:t>Code</a:t>
            </a:r>
            <a:r>
              <a:rPr lang="en-US" dirty="0"/>
              <a:t>: TBLPROPERTIES (</a:t>
            </a:r>
            <a:r>
              <a:rPr lang="en-US" dirty="0" err="1"/>
              <a:t>delta.enableChangeDataFeed</a:t>
            </a:r>
            <a:r>
              <a:rPr lang="en-US" dirty="0"/>
              <a:t> = true)</a:t>
            </a:r>
          </a:p>
          <a:p>
            <a:pPr lvl="1" algn="just"/>
            <a:r>
              <a:rPr lang="en-US" b="1" dirty="0"/>
              <a:t>Benefit</a:t>
            </a:r>
            <a:r>
              <a:rPr lang="en-US" dirty="0"/>
              <a:t>: Enables downstream systems to stream only the changes from our Gold table, future-proofing the architecture.</a:t>
            </a:r>
          </a:p>
          <a:p>
            <a:pPr algn="just"/>
            <a:endParaRPr lang="en-US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1" dirty="0"/>
              <a:t>Vacuum</a:t>
            </a:r>
          </a:p>
          <a:p>
            <a:pPr lvl="1" algn="just"/>
            <a:r>
              <a:rPr lang="en-US" b="1" dirty="0"/>
              <a:t>Code</a:t>
            </a:r>
            <a:r>
              <a:rPr lang="en-US" dirty="0"/>
              <a:t>: VACUUM ... RETAIN 168 HOURS</a:t>
            </a:r>
          </a:p>
          <a:p>
            <a:pPr lvl="1" algn="just"/>
            <a:r>
              <a:rPr lang="en-US" b="1" dirty="0"/>
              <a:t>Benefit</a:t>
            </a:r>
            <a:r>
              <a:rPr lang="en-US" dirty="0"/>
              <a:t>: Removes obsolete files to save storage costs and keep metadata clean.</a:t>
            </a:r>
          </a:p>
          <a:p>
            <a:pPr algn="just"/>
            <a:endParaRPr lang="en-IN" dirty="0"/>
          </a:p>
          <a:p>
            <a:pPr algn="just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190700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F3A9D4-FC90-8733-72E3-2B2851FC0A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85344F6-2AC3-FDBD-D12B-50EB90C9973B}"/>
              </a:ext>
            </a:extLst>
          </p:cNvPr>
          <p:cNvSpPr txBox="1"/>
          <p:nvPr/>
        </p:nvSpPr>
        <p:spPr>
          <a:xfrm>
            <a:off x="396110" y="348129"/>
            <a:ext cx="83453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JOB RUN</a:t>
            </a:r>
            <a:endParaRPr lang="en-IN" sz="2400" b="1" dirty="0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274AA55-75BA-066C-9ACA-FBAEF9F9C3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360" y="1163377"/>
            <a:ext cx="10078590" cy="5098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46546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290BBC-A4C4-FD31-D540-09F83809A4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52F01B5-B89A-ECCD-1B7C-7F049FBEF728}"/>
              </a:ext>
            </a:extLst>
          </p:cNvPr>
          <p:cNvSpPr txBox="1"/>
          <p:nvPr/>
        </p:nvSpPr>
        <p:spPr>
          <a:xfrm>
            <a:off x="401255" y="382751"/>
            <a:ext cx="83453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BI DASHBOARD</a:t>
            </a:r>
            <a:endParaRPr lang="en-IN" sz="2400" b="1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78AB8C7-4187-6C18-CBDB-9CE3BF3E9485}"/>
              </a:ext>
            </a:extLst>
          </p:cNvPr>
          <p:cNvSpPr/>
          <p:nvPr/>
        </p:nvSpPr>
        <p:spPr>
          <a:xfrm>
            <a:off x="401255" y="935269"/>
            <a:ext cx="11368269" cy="558614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3A706D7-2D6C-8E6D-3486-716086A701A3}"/>
              </a:ext>
            </a:extLst>
          </p:cNvPr>
          <p:cNvSpPr txBox="1"/>
          <p:nvPr/>
        </p:nvSpPr>
        <p:spPr>
          <a:xfrm>
            <a:off x="480027" y="1166842"/>
            <a:ext cx="11210724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/>
              <a:t>For the visualization layer (Power BI), we made a specific architectural choice to ensure speed.</a:t>
            </a:r>
          </a:p>
          <a:p>
            <a:pPr algn="just"/>
            <a:endParaRPr lang="en-US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1" dirty="0"/>
              <a:t>View Type </a:t>
            </a:r>
            <a:r>
              <a:rPr lang="en-US" dirty="0"/>
              <a:t>: Materialized View (Pre-Aggregated Table)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/>
          </a:p>
          <a:p>
            <a:pPr lvl="1" algn="just"/>
            <a:r>
              <a:rPr lang="en-US" dirty="0"/>
              <a:t>We did not use a standard "Normal View" (Virtual View). Querying the raw Fact table (millions of rows) every time a user opens the dashboard is too slow and costly.</a:t>
            </a:r>
          </a:p>
          <a:p>
            <a:pPr algn="just"/>
            <a:endParaRPr lang="en-US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1" dirty="0"/>
              <a:t>Implementation</a:t>
            </a:r>
            <a:r>
              <a:rPr lang="en-US" dirty="0"/>
              <a:t> : We created a physical Delta table </a:t>
            </a:r>
            <a:r>
              <a:rPr lang="en-US" dirty="0" err="1"/>
              <a:t>bi_daily_sales_summary</a:t>
            </a:r>
            <a:r>
              <a:rPr lang="en-US" dirty="0"/>
              <a:t>.</a:t>
            </a:r>
          </a:p>
          <a:p>
            <a:pPr algn="just"/>
            <a:endParaRPr lang="en-US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1" dirty="0"/>
              <a:t>Result</a:t>
            </a:r>
            <a:r>
              <a:rPr lang="en-US" dirty="0"/>
              <a:t> : The heavy aggregation logic (Sums, Averages, Counts) runs once in Databricks. Power BI then reads this tiny, pre-calculated table instantly.</a:t>
            </a:r>
          </a:p>
          <a:p>
            <a:pPr algn="just"/>
            <a:endParaRPr lang="en-US" dirty="0"/>
          </a:p>
          <a:p>
            <a:pPr algn="just"/>
            <a:r>
              <a:rPr lang="en-US" sz="2000" b="1" dirty="0"/>
              <a:t>Dashboard Components Built:</a:t>
            </a:r>
          </a:p>
          <a:p>
            <a:pPr algn="just"/>
            <a:endParaRPr lang="en-US" dirty="0"/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b="1" dirty="0"/>
              <a:t>Executive KPI View : </a:t>
            </a:r>
            <a:r>
              <a:rPr lang="en-US" dirty="0"/>
              <a:t>Daily Sales, Fraud Rates, and Trends (Source: </a:t>
            </a:r>
            <a:r>
              <a:rPr lang="en-US" dirty="0" err="1"/>
              <a:t>bi_daily_sales_summary</a:t>
            </a:r>
            <a:r>
              <a:rPr lang="en-US" dirty="0"/>
              <a:t>).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b="1" dirty="0"/>
              <a:t>Operational Alert View </a:t>
            </a:r>
            <a:r>
              <a:rPr lang="en-US" dirty="0"/>
              <a:t>: List of flagged transactions for immediate action (Source: </a:t>
            </a:r>
            <a:r>
              <a:rPr lang="en-US" dirty="0" err="1"/>
              <a:t>suspicious_activity_report</a:t>
            </a:r>
            <a:r>
              <a:rPr lang="en-US" dirty="0"/>
              <a:t>).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b="1" dirty="0"/>
              <a:t>Customer 360 View </a:t>
            </a:r>
            <a:r>
              <a:rPr lang="en-US" dirty="0"/>
              <a:t>: Deep dive into individual customer behavior (Source: customer_360_profile).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41466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D5F6E4-94CF-06D6-46F9-0CEE2ED2E1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5089" y="580834"/>
            <a:ext cx="8937171" cy="590931"/>
          </a:xfrm>
        </p:spPr>
        <p:txBody>
          <a:bodyPr/>
          <a:lstStyle/>
          <a:p>
            <a:r>
              <a:rPr lang="en-IN" sz="3600" dirty="0"/>
              <a:t>DASHBOARDS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6A819F4-0185-9903-01A0-9F034ABEB3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9793" y="1772888"/>
            <a:ext cx="5721816" cy="4373912"/>
          </a:xfrm>
          <a:prstGeom prst="rect">
            <a:avLst/>
          </a:prstGeom>
        </p:spPr>
      </p:pic>
      <p:sp>
        <p:nvSpPr>
          <p:cNvPr id="5" name="AutoShape 2" descr="Image preview">
            <a:extLst>
              <a:ext uri="{FF2B5EF4-FFF2-40B4-BE49-F238E27FC236}">
                <a16:creationId xmlns:a16="http://schemas.microsoft.com/office/drawing/2014/main" id="{2EAFA514-7D90-847A-629A-2CE01EB826C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" name="AutoShape 4" descr="Image preview">
            <a:extLst>
              <a:ext uri="{FF2B5EF4-FFF2-40B4-BE49-F238E27FC236}">
                <a16:creationId xmlns:a16="http://schemas.microsoft.com/office/drawing/2014/main" id="{0D3B2595-86B5-8A7A-640D-DCCBECEF118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2706072-1A0F-19FE-86C5-A82F24BA05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971" y="1772888"/>
            <a:ext cx="5304410" cy="431041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2AB736E-FABA-9C90-9A06-1DBC0D90737C}"/>
              </a:ext>
            </a:extLst>
          </p:cNvPr>
          <p:cNvSpPr txBox="1"/>
          <p:nvPr/>
        </p:nvSpPr>
        <p:spPr>
          <a:xfrm>
            <a:off x="1587500" y="6146800"/>
            <a:ext cx="2476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Fig 15. Dashboard 1</a:t>
            </a:r>
          </a:p>
        </p:txBody>
      </p:sp>
      <p:sp>
        <p:nvSpPr>
          <p:cNvPr id="11" name="AutoShape 6" descr="Image preview">
            <a:extLst>
              <a:ext uri="{FF2B5EF4-FFF2-40B4-BE49-F238E27FC236}">
                <a16:creationId xmlns:a16="http://schemas.microsoft.com/office/drawing/2014/main" id="{2679A146-2B8B-C1B7-3FF6-93885F313AA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248400" y="3581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D311F6F-5B8E-59DC-AC1D-94CD16F528DE}"/>
              </a:ext>
            </a:extLst>
          </p:cNvPr>
          <p:cNvSpPr txBox="1"/>
          <p:nvPr/>
        </p:nvSpPr>
        <p:spPr>
          <a:xfrm>
            <a:off x="7542451" y="6146800"/>
            <a:ext cx="2476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Fig 16. Dashboard 2</a:t>
            </a:r>
          </a:p>
        </p:txBody>
      </p:sp>
    </p:spTree>
    <p:extLst>
      <p:ext uri="{BB962C8B-B14F-4D97-AF65-F5344CB8AC3E}">
        <p14:creationId xmlns:p14="http://schemas.microsoft.com/office/powerpoint/2010/main" val="8734363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538344-EC86-1CA6-3C29-7E483BD120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5666" y="502942"/>
            <a:ext cx="8937171" cy="480131"/>
          </a:xfrm>
        </p:spPr>
        <p:txBody>
          <a:bodyPr/>
          <a:lstStyle/>
          <a:p>
            <a:r>
              <a:rPr lang="en-US" sz="2800" dirty="0"/>
              <a:t>CHALLENGES FACED</a:t>
            </a:r>
            <a:endParaRPr lang="en-IN" sz="28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729E382-DABA-99CD-31C8-CEE4B34CBD6F}"/>
              </a:ext>
            </a:extLst>
          </p:cNvPr>
          <p:cNvSpPr/>
          <p:nvPr/>
        </p:nvSpPr>
        <p:spPr>
          <a:xfrm>
            <a:off x="335666" y="1117599"/>
            <a:ext cx="11262167" cy="511810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ACC1B70-5C29-215D-DF42-AB0CDDB8ADEA}"/>
              </a:ext>
            </a:extLst>
          </p:cNvPr>
          <p:cNvSpPr txBox="1"/>
          <p:nvPr/>
        </p:nvSpPr>
        <p:spPr>
          <a:xfrm>
            <a:off x="335666" y="1328677"/>
            <a:ext cx="112621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endParaRPr lang="en-IN" sz="2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2304D57-FDC8-CA60-73C4-730BC1FCDDA6}"/>
              </a:ext>
            </a:extLst>
          </p:cNvPr>
          <p:cNvSpPr txBox="1"/>
          <p:nvPr/>
        </p:nvSpPr>
        <p:spPr>
          <a:xfrm>
            <a:off x="464916" y="863599"/>
            <a:ext cx="10660283" cy="44381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200000"/>
              </a:lnSpc>
            </a:pPr>
            <a:endParaRPr lang="en-IN" sz="2400" dirty="0"/>
          </a:p>
          <a:p>
            <a:pPr algn="just">
              <a:lnSpc>
                <a:spcPct val="200000"/>
              </a:lnSpc>
            </a:pPr>
            <a:r>
              <a:rPr lang="en-IN" sz="2000" b="1" dirty="0"/>
              <a:t>Schema Drift</a:t>
            </a:r>
            <a:r>
              <a:rPr lang="en-IN" sz="2000" dirty="0"/>
              <a:t>: Unexpected new columns caused pipeline breakages.</a:t>
            </a:r>
          </a:p>
          <a:p>
            <a:pPr algn="just">
              <a:lnSpc>
                <a:spcPct val="200000"/>
              </a:lnSpc>
            </a:pPr>
            <a:r>
              <a:rPr lang="en-IN" sz="2000" b="1" dirty="0"/>
              <a:t>Data</a:t>
            </a:r>
            <a:r>
              <a:rPr lang="en-IN" sz="2000" dirty="0"/>
              <a:t> </a:t>
            </a:r>
            <a:r>
              <a:rPr lang="en-IN" sz="2000" b="1" dirty="0"/>
              <a:t>Quality Issues</a:t>
            </a:r>
            <a:r>
              <a:rPr lang="en-IN" sz="2000" dirty="0"/>
              <a:t>: Malformed records led to ingestion failures and risk of data loss.</a:t>
            </a:r>
          </a:p>
          <a:p>
            <a:pPr algn="just">
              <a:lnSpc>
                <a:spcPct val="200000"/>
              </a:lnSpc>
            </a:pPr>
            <a:r>
              <a:rPr lang="en-IN" sz="2000" b="1" dirty="0"/>
              <a:t>Duplicate Ingestion</a:t>
            </a:r>
            <a:r>
              <a:rPr lang="en-IN" sz="2000" dirty="0"/>
              <a:t>: Re‑uploaded files created duplicate transaction records.</a:t>
            </a:r>
          </a:p>
          <a:p>
            <a:pPr algn="just">
              <a:lnSpc>
                <a:spcPct val="200000"/>
              </a:lnSpc>
            </a:pPr>
            <a:r>
              <a:rPr lang="en-IN" sz="2000" b="1" dirty="0"/>
              <a:t>Loss of History</a:t>
            </a:r>
            <a:r>
              <a:rPr lang="en-IN" sz="2000" dirty="0"/>
              <a:t>: Standard updates overwrote historical customer profile changes.</a:t>
            </a:r>
          </a:p>
          <a:p>
            <a:pPr algn="just">
              <a:lnSpc>
                <a:spcPct val="200000"/>
              </a:lnSpc>
            </a:pPr>
            <a:r>
              <a:rPr lang="en-IN" sz="2000" b="1" dirty="0"/>
              <a:t>Slow Query Performance</a:t>
            </a:r>
            <a:r>
              <a:rPr lang="en-IN" sz="2000" dirty="0"/>
              <a:t>: Large Fact tables caused sluggish joins with Dimensions.</a:t>
            </a:r>
          </a:p>
          <a:p>
            <a:pPr algn="just">
              <a:lnSpc>
                <a:spcPct val="200000"/>
              </a:lnSpc>
            </a:pPr>
            <a:r>
              <a:rPr lang="en-IN" sz="2000" b="1" dirty="0"/>
              <a:t>High Dashboard Latency</a:t>
            </a:r>
            <a:r>
              <a:rPr lang="en-IN" sz="2000" dirty="0"/>
              <a:t>: Power BI queries on granular data were slow and costly.</a:t>
            </a:r>
          </a:p>
        </p:txBody>
      </p:sp>
    </p:spTree>
    <p:extLst>
      <p:ext uri="{BB962C8B-B14F-4D97-AF65-F5344CB8AC3E}">
        <p14:creationId xmlns:p14="http://schemas.microsoft.com/office/powerpoint/2010/main" val="42621984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6170F8-B79C-FC91-F1FE-0F1037477A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9891" y="3338921"/>
            <a:ext cx="8937171" cy="757130"/>
          </a:xfrm>
        </p:spPr>
        <p:txBody>
          <a:bodyPr/>
          <a:lstStyle/>
          <a:p>
            <a:r>
              <a:rPr lang="en-IN" dirty="0"/>
              <a:t>			    THANK YOU</a:t>
            </a:r>
          </a:p>
        </p:txBody>
      </p:sp>
    </p:spTree>
    <p:extLst>
      <p:ext uri="{BB962C8B-B14F-4D97-AF65-F5344CB8AC3E}">
        <p14:creationId xmlns:p14="http://schemas.microsoft.com/office/powerpoint/2010/main" val="25285818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LM">
      <a:dk1>
        <a:srgbClr val="595959"/>
      </a:dk1>
      <a:lt1>
        <a:srgbClr val="FFFFFF"/>
      </a:lt1>
      <a:dk2>
        <a:srgbClr val="000000"/>
      </a:dk2>
      <a:lt2>
        <a:srgbClr val="FFFFFF"/>
      </a:lt2>
      <a:accent1>
        <a:srgbClr val="BCD9F3"/>
      </a:accent1>
      <a:accent2>
        <a:srgbClr val="97C4EC"/>
      </a:accent2>
      <a:accent3>
        <a:srgbClr val="60A5E2"/>
      </a:accent3>
      <a:accent4>
        <a:srgbClr val="EF7C00"/>
      </a:accent4>
      <a:accent5>
        <a:srgbClr val="C8CA05"/>
      </a:accent5>
      <a:accent6>
        <a:srgbClr val="33682B"/>
      </a:accent6>
      <a:hlink>
        <a:srgbClr val="64B3E3"/>
      </a:hlink>
      <a:folHlink>
        <a:srgbClr val="004683"/>
      </a:folHlink>
    </a:clrScheme>
    <a:fontScheme name="Frutiger">
      <a:majorFont>
        <a:latin typeface="Frutiger 45 bold"/>
        <a:ea typeface=""/>
        <a:cs typeface=""/>
      </a:majorFont>
      <a:minorFont>
        <a:latin typeface="Frutiger 45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LTIMindtree PowerPoint Template  -  Read-Only" id="{D2D078E9-0747-433B-9A53-87E4E1206723}" vid="{02E04BAB-B372-49B2-8DFC-CCA94797958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EE668FDB297BA418F5A6539855E71B7" ma:contentTypeVersion="3" ma:contentTypeDescription="Create a new document." ma:contentTypeScope="" ma:versionID="4294c225a3417baf4b70885d580e1778">
  <xsd:schema xmlns:xsd="http://www.w3.org/2001/XMLSchema" xmlns:xs="http://www.w3.org/2001/XMLSchema" xmlns:p="http://schemas.microsoft.com/office/2006/metadata/properties" xmlns:ns2="88563cb8-e9e3-40d4-951f-126d0c29510d" xmlns:ns3="dc0ddbac-d92f-4135-ae82-46af643a22eb" targetNamespace="http://schemas.microsoft.com/office/2006/metadata/properties" ma:root="true" ma:fieldsID="4f00704ce9a2416b2cdaa5d136de8e77" ns2:_="" ns3:_="">
    <xsd:import namespace="88563cb8-e9e3-40d4-951f-126d0c29510d"/>
    <xsd:import namespace="dc0ddbac-d92f-4135-ae82-46af643a22eb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3:MediaServiceMetadata" minOccurs="0"/>
                <xsd:element ref="ns3:MediaServiceFastMetadata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8563cb8-e9e3-40d4-951f-126d0c29510d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dexed="true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c0ddbac-d92f-4135-ae82-46af643a22e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dlc_DocId xmlns="88563cb8-e9e3-40d4-951f-126d0c29510d">QUMXH5H4ZXKS-875811578-11</_dlc_DocId>
    <_dlc_DocIdUrl xmlns="88563cb8-e9e3-40d4-951f-126d0c29510d">
      <Url>https://mindtreeonline.sharepoint.com/sites/LTIMindtree-Corporate-Templates/_layouts/15/DocIdRedir.aspx?ID=QUMXH5H4ZXKS-875811578-11</Url>
      <Description>QUMXH5H4ZXKS-875811578-11</Description>
    </_dlc_DocIdUrl>
  </documentManagement>
</p:properties>
</file>

<file path=customXml/itemProps1.xml><?xml version="1.0" encoding="utf-8"?>
<ds:datastoreItem xmlns:ds="http://schemas.openxmlformats.org/officeDocument/2006/customXml" ds:itemID="{BACBCD0B-8E49-473F-9B37-931C1D23841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8563cb8-e9e3-40d4-951f-126d0c29510d"/>
    <ds:schemaRef ds:uri="dc0ddbac-d92f-4135-ae82-46af643a22e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C474493-4661-4534-A819-8424B96FDD6F}">
  <ds:schemaRefs>
    <ds:schemaRef ds:uri="http://schemas.microsoft.com/sharepoint/events"/>
  </ds:schemaRefs>
</ds:datastoreItem>
</file>

<file path=customXml/itemProps3.xml><?xml version="1.0" encoding="utf-8"?>
<ds:datastoreItem xmlns:ds="http://schemas.openxmlformats.org/officeDocument/2006/customXml" ds:itemID="{3998B09E-68DE-4B62-A34E-BB5B738ECC36}">
  <ds:schemaRefs>
    <ds:schemaRef ds:uri="http://schemas.microsoft.com/sharepoint/v3/contenttype/forms"/>
  </ds:schemaRefs>
</ds:datastoreItem>
</file>

<file path=customXml/itemProps4.xml><?xml version="1.0" encoding="utf-8"?>
<ds:datastoreItem xmlns:ds="http://schemas.openxmlformats.org/officeDocument/2006/customXml" ds:itemID="{4C55CB52-33A3-4B47-8C1D-0EE24875E3DC}">
  <ds:schemaRefs>
    <ds:schemaRef ds:uri="http://schemas.microsoft.com/office/2006/documentManagement/types"/>
    <ds:schemaRef ds:uri="http://purl.org/dc/terms/"/>
    <ds:schemaRef ds:uri="88563cb8-e9e3-40d4-951f-126d0c29510d"/>
    <ds:schemaRef ds:uri="http://www.w3.org/XML/1998/namespace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dcmitype/"/>
    <ds:schemaRef ds:uri="dc0ddbac-d92f-4135-ae82-46af643a22eb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LTIMindtree PowerPoint Template - Capstone Project</Template>
  <TotalTime>1393</TotalTime>
  <Words>1408</Words>
  <Application>Microsoft Office PowerPoint</Application>
  <PresentationFormat>Widescreen</PresentationFormat>
  <Paragraphs>159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9" baseType="lpstr">
      <vt:lpstr>Arial</vt:lpstr>
      <vt:lpstr>Calibri</vt:lpstr>
      <vt:lpstr>Frutiger 45 bold</vt:lpstr>
      <vt:lpstr>Frutiger 45 Light</vt:lpstr>
      <vt:lpstr>Frutiger LT Pro 45 Light</vt:lpstr>
      <vt:lpstr>Frutiger LT Pro 55 Roman</vt:lpstr>
      <vt:lpstr>Symbol</vt:lpstr>
      <vt:lpstr>Wingdings</vt:lpstr>
      <vt:lpstr>Office Theme</vt:lpstr>
      <vt:lpstr>Card Transaction Fraud Monitoring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DASHBOARDS</vt:lpstr>
      <vt:lpstr>CHALLENGES FACED</vt:lpstr>
      <vt:lpstr>       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Abhishek Damodar Bapat</dc:creator>
  <cp:lastModifiedBy>Siyaram Sharma</cp:lastModifiedBy>
  <cp:revision>53</cp:revision>
  <dcterms:created xsi:type="dcterms:W3CDTF">2026-02-04T11:01:58Z</dcterms:created>
  <dcterms:modified xsi:type="dcterms:W3CDTF">2026-02-09T03:49:01Z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0x0101001EE668FDB297BA418F5A6539855E71B7</vt:lpwstr>
  </property>
  <property fmtid="{D5CDD505-2E9C-101B-9397-08002B2CF9AE}" pid="3" name="_dlc_DocIdItemGuid">
    <vt:lpwstr>36da67c7-b504-4aea-865b-0e87cedc899d</vt:lpwstr>
  </property>
</Properties>
</file>